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Computational Speedup Potential</c:v>
                </c:pt>
              </c:strCache>
            </c:strRef>
          </c:tx>
          <c:spPr>
            <a:solidFill>
              <a:srgbClr val="C0504D"/>
            </a:solidFill>
            <a:ln w="25400" cap="flat">
              <a:solidFill>
                <a:srgbClr val="C0504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0504D"/>
              </a:solidFill>
              <a:ln w="9525" cap="flat">
                <a:solidFill>
                  <a:srgbClr val="C0504D"/>
                </a:solidFill>
                <a:prstDash val="solid"/>
                <a:round/>
              </a:ln>
              <a:effectLst/>
            </c:spPr>
          </c:marker>
          <c:cat>
            <c:multiLvlStrRef>
              <c:f>Sheet1!$A$2:$A$5</c:f>
              <c:multiLvlStrCache>
                <c:ptCount val="4"/>
                <c:lvl>
                  <c:pt idx="0">
                    <c:v>Category A</c:v>
                  </c:pt>
                  <c:pt idx="1">
                    <c:v>Category B</c:v>
                  </c:pt>
                  <c:pt idx="2">
                    <c:v>Category C</c:v>
                  </c:pt>
                  <c:pt idx="3">
                    <c:v>Category D</c:v>
                  </c:pt>
                </c:lvl>
              </c:multiLvlStrCache>
            </c:multiLvlStrRef>
          </c:cat>
          <c:val>
            <c:numRef>
              <c:f>Sheet1!$B$2:$B$5</c:f>
              <c:numCache>
                <c:formatCode>General</c:formatCode>
                <c:ptCount val="4"/>
                <c:pt idx="0">
                  <c:v>30</c:v>
                </c:pt>
                <c:pt idx="1">
                  <c:v>50</c:v>
                </c:pt>
                <c:pt idx="2">
                  <c:v>20</c:v>
                </c:pt>
                <c:pt idx="3">
                  <c:v>70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we're going to explore the exciting and rapidly evolving field of Quantum Artificial Intelligence. We'll delve into what it is, why it matters, and its potential impact on our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dive into Quantum AI, let's briefly recap what quantum computing entails. Unlike classical computers that use bits (0 or 1), quantum computers use qubits. Qubits can exist in multiple states simultaneously due to superposition, and can be linked through entanglement, enabling massively parallel processing.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define Artificial Intelligence. AI refers to systems that mimic cognitive functions like learning and problem-solving. It's a broad field, powered by vast amounts of data and sophisticated algorithms, with machine learning and deep learning being prominent subfields.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Quantum Artificial Intelligence, or Quantum AI, is where these two domains intersect. It's about using quantum computation to supercharge AI algorithms and, conversely, using AI to help us design and control quantum systems. This synergy promises breakthroughs.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significance of Quantum AI lies in its potential to tackle problems currently impossible for even the most powerful classical AI. This includes areas like finding new medicines, designing novel materials, revolutionizing finance, and creating entirely new types of intelligent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most compelling aspects of Quantum AI is the potential for dramatic speedups. Quantum algorithms can tackle certain computational tasks orders of magnitude faster than their classical counterparts. This is crucial for training complex AI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key quantum algorithms are foundational to Quantum AI. These include algorithms for classification like QSVM, dimensionality reduction like QPCA, optimization tasks with QAOA and VQE, and search enhancements like Grover's algorithm. Quantum Neural Networks are also a significant area of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Drug discovery is a prime application area. Quantum computers can simulate molecular behavior with unprecedented fidelity, allowing researchers to test potential drug candidates virtually, identify optimal molecular structures, and accelerate the path to new treatments.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Similarly, in materials science, Quantum AI can revolutionize the design process. By accurately simulating how atoms and molecules interact, we can engineer materials with specific properties, leading to advancements in energy, electronics, and manufacturing.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financial sector stands to gain significantly. Quantum AI can optimize complex portfolios, perform more accurate risk assessments, detect sophisticated fraud patterns, and optimize logistical operations far more efficiently than current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Despite the immense promise, significant challenges remain. Building stable, large-scale quantum computers is incredibly difficult. Developing practical quantum AI algorithms requires further research, and there's a shortage of skilled professionals. Cost and integration are also key hurdles.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the journey of Quantum AI is unfolding in stages. We are currently in the Noisy Intermediate-Scale Quantum (NISQ) era, focusing on hybrid approaches. Mid-term projections involve more robust machines and wider applications, while the long-term vision is transformative, with Quantum AI deeply embedded in various sectors.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the key differences: Classical AI relies on bits and scales linearly, excelling with large datasets. Quantum AI leverages qubits for potential exponential scaling, targeting complex optimization and simulation problems. While classical AI is mature, Quantum AI is still in its early stages.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a two-way street. AI is not just benefiting from quantum computing; it's actively helping advance it. AI can optimize the design of quantum circuits, improve error correction, automate calibration, and even aid in the discovery of new quantum algorithms.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Quantum Artificial Intelligence represents a monumental leap forward. While challenges persist, the potential benefits for science, industry, and society are profound. Continued investment in research and development is crucial to unlocking this future. The era of Quantum AI is dawning.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and attention. I'm now happy to answer any questions you may have about the fascinating field of Quantum Artificial Intelligence.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sp>
        <p:nvSpPr>
          <p:cNvPr id="3" name="Shape 0"/>
          <p:cNvSpPr/>
          <p:nvPr/>
        </p:nvSpPr>
        <p:spPr>
          <a:xfrm>
            <a:off x="457200" y="3200400"/>
            <a:ext cx="11274552" cy="45720"/>
          </a:xfrm>
          <a:prstGeom prst="rect">
            <a:avLst/>
          </a:prstGeom>
          <a:solidFill>
            <a:srgbClr val="E28413"/>
          </a:solidFill>
          <a:ln/>
        </p:spPr>
      </p:sp>
      <p:sp>
        <p:nvSpPr>
          <p:cNvPr id="4" name="Text 1"/>
          <p:cNvSpPr/>
          <p:nvPr/>
        </p:nvSpPr>
        <p:spPr>
          <a:xfrm>
            <a:off x="914400" y="1645920"/>
            <a:ext cx="10360152" cy="1371600"/>
          </a:xfrm>
          <a:prstGeom prst="rect">
            <a:avLst/>
          </a:prstGeom>
          <a:noFill/>
          <a:ln/>
        </p:spPr>
        <p:txBody>
          <a:bodyPr wrap="square" rtlCol="0" anchor="ctr"/>
          <a:lstStyle/>
          <a:p>
            <a:pPr algn="ctr" indent="0" marL="0">
              <a:buNone/>
            </a:pPr>
            <a:r>
              <a:rPr lang="en-US" sz="4400" b="1" dirty="0">
                <a:solidFill>
                  <a:srgbClr val="FFFFFF"/>
                </a:solidFill>
                <a:latin typeface="Trebuchet MS" pitchFamily="34" charset="0"/>
                <a:ea typeface="Trebuchet MS" pitchFamily="34" charset="-122"/>
                <a:cs typeface="Trebuchet MS" pitchFamily="34" charset="-120"/>
              </a:rPr>
              <a:t>The Rise of Quantum Artificial Intelligence</a:t>
            </a:r>
            <a:endParaRPr lang="en-US" sz="4400" dirty="0"/>
          </a:p>
        </p:txBody>
      </p:sp>
      <p:sp>
        <p:nvSpPr>
          <p:cNvPr id="5" name="Text 2"/>
          <p:cNvSpPr/>
          <p:nvPr/>
        </p:nvSpPr>
        <p:spPr>
          <a:xfrm>
            <a:off x="914400" y="3474720"/>
            <a:ext cx="10360152" cy="731520"/>
          </a:xfrm>
          <a:prstGeom prst="rect">
            <a:avLst/>
          </a:prstGeom>
          <a:noFill/>
          <a:ln/>
        </p:spPr>
        <p:txBody>
          <a:bodyPr wrap="square" rtlCol="0" anchor="ctr"/>
          <a:lstStyle/>
          <a:p>
            <a:pPr algn="ctr" indent="0" marL="0">
              <a:buNone/>
            </a:pPr>
            <a:r>
              <a:rPr lang="en-US" sz="2200" dirty="0">
                <a:solidFill>
                  <a:srgbClr val="E28413"/>
                </a:solidFill>
                <a:latin typeface="Calibri" pitchFamily="34" charset="0"/>
                <a:ea typeface="Calibri" pitchFamily="34" charset="-122"/>
                <a:cs typeface="Calibri" pitchFamily="34" charset="-120"/>
              </a:rPr>
              <a:t>Harnessing the Power of the Quantum Realm</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731520" y="457200"/>
            <a:ext cx="10725912" cy="731520"/>
          </a:xfrm>
          <a:prstGeom prst="rect">
            <a:avLst/>
          </a:prstGeom>
          <a:noFill/>
          <a:ln/>
        </p:spPr>
        <p:txBody>
          <a:bodyPr wrap="square" rtlCol="0" anchor="ctr"/>
          <a:lstStyle/>
          <a:p>
            <a:pPr indent="0" marL="0">
              <a:buNone/>
            </a:pPr>
            <a:r>
              <a:rPr lang="en-US" sz="2800" b="1" dirty="0">
                <a:solidFill>
                  <a:srgbClr val="111111"/>
                </a:solidFill>
                <a:latin typeface="Trebuchet MS" pitchFamily="34" charset="0"/>
                <a:ea typeface="Trebuchet MS" pitchFamily="34" charset="-122"/>
                <a:cs typeface="Trebuchet MS" pitchFamily="34" charset="-120"/>
              </a:rPr>
              <a:t>What is Quantum Computing?</a:t>
            </a:r>
            <a:endParaRPr lang="en-US" sz="2800" dirty="0"/>
          </a:p>
        </p:txBody>
      </p:sp>
      <p:sp>
        <p:nvSpPr>
          <p:cNvPr id="4" name="Text 1"/>
          <p:cNvSpPr/>
          <p:nvPr/>
        </p:nvSpPr>
        <p:spPr>
          <a:xfrm>
            <a:off x="731520" y="228600"/>
            <a:ext cx="10725912" cy="274320"/>
          </a:xfrm>
          <a:prstGeom prst="rect">
            <a:avLst/>
          </a:prstGeom>
          <a:noFill/>
          <a:ln/>
        </p:spPr>
        <p:txBody>
          <a:bodyPr wrap="square" rtlCol="0" anchor="ctr"/>
          <a:lstStyle/>
          <a:p>
            <a:pPr indent="0" marL="0">
              <a:buNone/>
            </a:pPr>
            <a:r>
              <a:rPr lang="en-US" sz="1100" b="1" dirty="0">
                <a:solidFill>
                  <a:srgbClr val="E28413"/>
                </a:solidFill>
                <a:latin typeface="Calibri" pitchFamily="34" charset="0"/>
                <a:ea typeface="Calibri" pitchFamily="34" charset="-122"/>
                <a:cs typeface="Calibri" pitchFamily="34" charset="-120"/>
              </a:rPr>
              <a:t>A NEW PARADIGM OF COMPUTATION</a:t>
            </a:r>
            <a:endParaRPr lang="en-US" sz="1100" dirty="0"/>
          </a:p>
        </p:txBody>
      </p:sp>
      <p:sp>
        <p:nvSpPr>
          <p:cNvPr id="5" name="Shape 2"/>
          <p:cNvSpPr/>
          <p:nvPr/>
        </p:nvSpPr>
        <p:spPr>
          <a:xfrm>
            <a:off x="731520" y="1188720"/>
            <a:ext cx="10725912" cy="9144"/>
          </a:xfrm>
          <a:prstGeom prst="line">
            <a:avLst/>
          </a:prstGeom>
          <a:noFill/>
          <a:ln w="12700">
            <a:solidFill>
              <a:srgbClr val="333333"/>
            </a:solidFill>
            <a:prstDash val="solid"/>
          </a:ln>
        </p:spPr>
      </p:sp>
      <p:sp>
        <p:nvSpPr>
          <p:cNvPr id="6" name="Text 3"/>
          <p:cNvSpPr/>
          <p:nvPr/>
        </p:nvSpPr>
        <p:spPr>
          <a:xfrm>
            <a:off x="731520" y="1645920"/>
            <a:ext cx="10725912" cy="4389120"/>
          </a:xfrm>
          <a:prstGeom prst="rect">
            <a:avLst/>
          </a:prstGeom>
          <a:noFill/>
          <a:ln/>
        </p:spPr>
        <p:txBody>
          <a:bodyPr wrap="square" rtlCol="0" anchor="t"/>
          <a:lstStyle/>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Leverages quantum mechanics principles (superposition, entanglement).</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Qubits as fundamental units, unlike classical bits.</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Allows for exponentially more complex calculations.</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Potential for solving problems intractable for classical computers.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731520" y="457200"/>
            <a:ext cx="10725912" cy="731520"/>
          </a:xfrm>
          <a:prstGeom prst="rect">
            <a:avLst/>
          </a:prstGeom>
          <a:noFill/>
          <a:ln/>
        </p:spPr>
        <p:txBody>
          <a:bodyPr wrap="square" rtlCol="0" anchor="ctr"/>
          <a:lstStyle/>
          <a:p>
            <a:pPr indent="0" marL="0">
              <a:buNone/>
            </a:pPr>
            <a:r>
              <a:rPr lang="en-US" sz="2800" b="1" dirty="0">
                <a:solidFill>
                  <a:srgbClr val="111111"/>
                </a:solidFill>
                <a:latin typeface="Trebuchet MS" pitchFamily="34" charset="0"/>
                <a:ea typeface="Trebuchet MS" pitchFamily="34" charset="-122"/>
                <a:cs typeface="Trebuchet MS" pitchFamily="34" charset="-120"/>
              </a:rPr>
              <a:t>What is Artificial Intelligence?</a:t>
            </a:r>
            <a:endParaRPr lang="en-US" sz="2800" dirty="0"/>
          </a:p>
        </p:txBody>
      </p:sp>
      <p:sp>
        <p:nvSpPr>
          <p:cNvPr id="4" name="Text 1"/>
          <p:cNvSpPr/>
          <p:nvPr/>
        </p:nvSpPr>
        <p:spPr>
          <a:xfrm>
            <a:off x="731520" y="228600"/>
            <a:ext cx="10725912" cy="274320"/>
          </a:xfrm>
          <a:prstGeom prst="rect">
            <a:avLst/>
          </a:prstGeom>
          <a:noFill/>
          <a:ln/>
        </p:spPr>
        <p:txBody>
          <a:bodyPr wrap="square" rtlCol="0" anchor="ctr"/>
          <a:lstStyle/>
          <a:p>
            <a:pPr indent="0" marL="0">
              <a:buNone/>
            </a:pPr>
            <a:r>
              <a:rPr lang="en-US" sz="1100" b="1" dirty="0">
                <a:solidFill>
                  <a:srgbClr val="E28413"/>
                </a:solidFill>
                <a:latin typeface="Calibri" pitchFamily="34" charset="0"/>
                <a:ea typeface="Calibri" pitchFamily="34" charset="-122"/>
                <a:cs typeface="Calibri" pitchFamily="34" charset="-120"/>
              </a:rPr>
              <a:t>SIMULATING HUMAN-LIKE INTELLIGENCE</a:t>
            </a:r>
            <a:endParaRPr lang="en-US" sz="1100" dirty="0"/>
          </a:p>
        </p:txBody>
      </p:sp>
      <p:sp>
        <p:nvSpPr>
          <p:cNvPr id="5" name="Shape 2"/>
          <p:cNvSpPr/>
          <p:nvPr/>
        </p:nvSpPr>
        <p:spPr>
          <a:xfrm>
            <a:off x="731520" y="1188720"/>
            <a:ext cx="10725912" cy="9144"/>
          </a:xfrm>
          <a:prstGeom prst="line">
            <a:avLst/>
          </a:prstGeom>
          <a:noFill/>
          <a:ln w="12700">
            <a:solidFill>
              <a:srgbClr val="333333"/>
            </a:solidFill>
            <a:prstDash val="solid"/>
          </a:ln>
        </p:spPr>
      </p:sp>
      <p:sp>
        <p:nvSpPr>
          <p:cNvPr id="6" name="Text 3"/>
          <p:cNvSpPr/>
          <p:nvPr/>
        </p:nvSpPr>
        <p:spPr>
          <a:xfrm>
            <a:off x="731520" y="1645920"/>
            <a:ext cx="10725912" cy="4389120"/>
          </a:xfrm>
          <a:prstGeom prst="rect">
            <a:avLst/>
          </a:prstGeom>
          <a:noFill/>
          <a:ln/>
        </p:spPr>
        <p:txBody>
          <a:bodyPr wrap="square" rtlCol="0" anchor="t"/>
          <a:lstStyle/>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Machines performing tasks requiring human intelligence.</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Includes learning, problem-solving, and decision-making.</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Driven by data and algorithms.</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Key areas: Machine Learning, Deep Learning, NLP.</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731520" y="457200"/>
            <a:ext cx="10725912" cy="731520"/>
          </a:xfrm>
          <a:prstGeom prst="rect">
            <a:avLst/>
          </a:prstGeom>
          <a:noFill/>
          <a:ln/>
        </p:spPr>
        <p:txBody>
          <a:bodyPr wrap="square" rtlCol="0" anchor="ctr"/>
          <a:lstStyle/>
          <a:p>
            <a:pPr indent="0" marL="0">
              <a:buNone/>
            </a:pPr>
            <a:r>
              <a:rPr lang="en-US" sz="2800" b="1" dirty="0">
                <a:solidFill>
                  <a:srgbClr val="111111"/>
                </a:solidFill>
                <a:latin typeface="Trebuchet MS" pitchFamily="34" charset="0"/>
                <a:ea typeface="Trebuchet MS" pitchFamily="34" charset="-122"/>
                <a:cs typeface="Trebuchet MS" pitchFamily="34" charset="-120"/>
              </a:rPr>
              <a:t>The Convergence: Quantum AI</a:t>
            </a:r>
            <a:endParaRPr lang="en-US" sz="2800" dirty="0"/>
          </a:p>
        </p:txBody>
      </p:sp>
      <p:sp>
        <p:nvSpPr>
          <p:cNvPr id="4" name="Text 1"/>
          <p:cNvSpPr/>
          <p:nvPr/>
        </p:nvSpPr>
        <p:spPr>
          <a:xfrm>
            <a:off x="731520" y="228600"/>
            <a:ext cx="10725912" cy="274320"/>
          </a:xfrm>
          <a:prstGeom prst="rect">
            <a:avLst/>
          </a:prstGeom>
          <a:noFill/>
          <a:ln/>
        </p:spPr>
        <p:txBody>
          <a:bodyPr wrap="square" rtlCol="0" anchor="ctr"/>
          <a:lstStyle/>
          <a:p>
            <a:pPr indent="0" marL="0">
              <a:buNone/>
            </a:pPr>
            <a:r>
              <a:rPr lang="en-US" sz="1100" b="1" dirty="0">
                <a:solidFill>
                  <a:srgbClr val="E28413"/>
                </a:solidFill>
                <a:latin typeface="Calibri" pitchFamily="34" charset="0"/>
                <a:ea typeface="Calibri" pitchFamily="34" charset="-122"/>
                <a:cs typeface="Calibri" pitchFamily="34" charset="-120"/>
              </a:rPr>
              <a:t>SYNERGY OF TWO POWERFUL FIELDS</a:t>
            </a:r>
            <a:endParaRPr lang="en-US" sz="1100" dirty="0"/>
          </a:p>
        </p:txBody>
      </p:sp>
      <p:sp>
        <p:nvSpPr>
          <p:cNvPr id="5" name="Shape 2"/>
          <p:cNvSpPr/>
          <p:nvPr/>
        </p:nvSpPr>
        <p:spPr>
          <a:xfrm>
            <a:off x="731520" y="1188720"/>
            <a:ext cx="10725912" cy="9144"/>
          </a:xfrm>
          <a:prstGeom prst="line">
            <a:avLst/>
          </a:prstGeom>
          <a:noFill/>
          <a:ln w="12700">
            <a:solidFill>
              <a:srgbClr val="333333"/>
            </a:solidFill>
            <a:prstDash val="solid"/>
          </a:ln>
        </p:spPr>
      </p:sp>
      <p:sp>
        <p:nvSpPr>
          <p:cNvPr id="6" name="Text 3"/>
          <p:cNvSpPr/>
          <p:nvPr/>
        </p:nvSpPr>
        <p:spPr>
          <a:xfrm>
            <a:off x="731520" y="1645920"/>
            <a:ext cx="10725912" cy="4389120"/>
          </a:xfrm>
          <a:prstGeom prst="rect">
            <a:avLst/>
          </a:prstGeom>
          <a:noFill/>
          <a:ln/>
        </p:spPr>
        <p:txBody>
          <a:bodyPr wrap="square" rtlCol="0" anchor="t"/>
          <a:lstStyle/>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Quantum AI integrates quantum computing with AI.</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Aims to enhance AI capabilities exponentially.</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Develops quantum algorithms for AI tasks.</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Explores AI for optimizing quantum systems.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731520" y="457200"/>
            <a:ext cx="10725912" cy="731520"/>
          </a:xfrm>
          <a:prstGeom prst="rect">
            <a:avLst/>
          </a:prstGeom>
          <a:noFill/>
          <a:ln/>
        </p:spPr>
        <p:txBody>
          <a:bodyPr wrap="square" rtlCol="0" anchor="ctr"/>
          <a:lstStyle/>
          <a:p>
            <a:pPr indent="0" marL="0">
              <a:buNone/>
            </a:pPr>
            <a:r>
              <a:rPr lang="en-US" sz="2800" b="1" dirty="0">
                <a:solidFill>
                  <a:srgbClr val="111111"/>
                </a:solidFill>
                <a:latin typeface="Trebuchet MS" pitchFamily="34" charset="0"/>
                <a:ea typeface="Trebuchet MS" pitchFamily="34" charset="-122"/>
                <a:cs typeface="Trebuchet MS" pitchFamily="34" charset="-120"/>
              </a:rPr>
              <a:t>Why Quantum AI Matters</a:t>
            </a:r>
            <a:endParaRPr lang="en-US" sz="2800" dirty="0"/>
          </a:p>
        </p:txBody>
      </p:sp>
      <p:sp>
        <p:nvSpPr>
          <p:cNvPr id="4" name="Text 1"/>
          <p:cNvSpPr/>
          <p:nvPr/>
        </p:nvSpPr>
        <p:spPr>
          <a:xfrm>
            <a:off x="731520" y="228600"/>
            <a:ext cx="10725912" cy="274320"/>
          </a:xfrm>
          <a:prstGeom prst="rect">
            <a:avLst/>
          </a:prstGeom>
          <a:noFill/>
          <a:ln/>
        </p:spPr>
        <p:txBody>
          <a:bodyPr wrap="square" rtlCol="0" anchor="ctr"/>
          <a:lstStyle/>
          <a:p>
            <a:pPr indent="0" marL="0">
              <a:buNone/>
            </a:pPr>
            <a:r>
              <a:rPr lang="en-US" sz="1100" b="1" dirty="0">
                <a:solidFill>
                  <a:srgbClr val="E28413"/>
                </a:solidFill>
                <a:latin typeface="Calibri" pitchFamily="34" charset="0"/>
                <a:ea typeface="Calibri" pitchFamily="34" charset="-122"/>
                <a:cs typeface="Calibri" pitchFamily="34" charset="-120"/>
              </a:rPr>
              <a:t>UNLOCKING UNPRECEDENTED POTENTIAL</a:t>
            </a:r>
            <a:endParaRPr lang="en-US" sz="1100" dirty="0"/>
          </a:p>
        </p:txBody>
      </p:sp>
      <p:sp>
        <p:nvSpPr>
          <p:cNvPr id="5" name="Shape 2"/>
          <p:cNvSpPr/>
          <p:nvPr/>
        </p:nvSpPr>
        <p:spPr>
          <a:xfrm>
            <a:off x="731520" y="1188720"/>
            <a:ext cx="10725912" cy="9144"/>
          </a:xfrm>
          <a:prstGeom prst="line">
            <a:avLst/>
          </a:prstGeom>
          <a:noFill/>
          <a:ln w="12700">
            <a:solidFill>
              <a:srgbClr val="333333"/>
            </a:solidFill>
            <a:prstDash val="solid"/>
          </a:ln>
        </p:spPr>
      </p:sp>
      <p:sp>
        <p:nvSpPr>
          <p:cNvPr id="6" name="Text 3"/>
          <p:cNvSpPr/>
          <p:nvPr/>
        </p:nvSpPr>
        <p:spPr>
          <a:xfrm>
            <a:off x="731520" y="1645920"/>
            <a:ext cx="10725912" cy="4389120"/>
          </a:xfrm>
          <a:prstGeom prst="rect">
            <a:avLst/>
          </a:prstGeom>
          <a:noFill/>
          <a:ln/>
        </p:spPr>
        <p:txBody>
          <a:bodyPr wrap="square" rtlCol="0" anchor="t"/>
          <a:lstStyle/>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Solves complex problems beyond classical AI.</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Accelerates drug discovery and materials science.</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Optimizes financial modeling and logistics.</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Enhances machine learning model efficiency.</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Enables new forms of AI.</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731520" y="457200"/>
            <a:ext cx="10725912" cy="731520"/>
          </a:xfrm>
          <a:prstGeom prst="rect">
            <a:avLst/>
          </a:prstGeom>
          <a:noFill/>
          <a:ln/>
        </p:spPr>
        <p:txBody>
          <a:bodyPr wrap="square" rtlCol="0" anchor="ctr"/>
          <a:lstStyle/>
          <a:p>
            <a:pPr indent="0" marL="0">
              <a:buNone/>
            </a:pPr>
            <a:r>
              <a:rPr lang="en-US" sz="2800" b="1" dirty="0">
                <a:solidFill>
                  <a:srgbClr val="111111"/>
                </a:solidFill>
                <a:latin typeface="Trebuchet MS" pitchFamily="34" charset="0"/>
                <a:ea typeface="Trebuchet MS" pitchFamily="34" charset="-122"/>
                <a:cs typeface="Trebuchet MS" pitchFamily="34" charset="-120"/>
              </a:rPr>
              <a:t>Computational Speedup Potential</a:t>
            </a:r>
            <a:endParaRPr lang="en-US" sz="2800" dirty="0"/>
          </a:p>
        </p:txBody>
      </p:sp>
      <p:sp>
        <p:nvSpPr>
          <p:cNvPr id="4" name="Text 1"/>
          <p:cNvSpPr/>
          <p:nvPr/>
        </p:nvSpPr>
        <p:spPr>
          <a:xfrm>
            <a:off x="731520" y="228600"/>
            <a:ext cx="10725912" cy="274320"/>
          </a:xfrm>
          <a:prstGeom prst="rect">
            <a:avLst/>
          </a:prstGeom>
          <a:noFill/>
          <a:ln/>
        </p:spPr>
        <p:txBody>
          <a:bodyPr wrap="square" rtlCol="0" anchor="ctr"/>
          <a:lstStyle/>
          <a:p>
            <a:pPr indent="0" marL="0">
              <a:buNone/>
            </a:pPr>
            <a:r>
              <a:rPr lang="en-US" sz="1100" b="1" dirty="0">
                <a:solidFill>
                  <a:srgbClr val="E28413"/>
                </a:solidFill>
                <a:latin typeface="Calibri" pitchFamily="34" charset="0"/>
                <a:ea typeface="Calibri" pitchFamily="34" charset="-122"/>
                <a:cs typeface="Calibri" pitchFamily="34" charset="-120"/>
              </a:rPr>
              <a:t>CLASSICAL VS. QUANTUM AI ALGORITHMS</a:t>
            </a:r>
            <a:endParaRPr lang="en-US" sz="1100" dirty="0"/>
          </a:p>
        </p:txBody>
      </p:sp>
      <p:sp>
        <p:nvSpPr>
          <p:cNvPr id="5" name="Shape 2"/>
          <p:cNvSpPr/>
          <p:nvPr/>
        </p:nvSpPr>
        <p:spPr>
          <a:xfrm>
            <a:off x="731520" y="1188720"/>
            <a:ext cx="10725912" cy="9144"/>
          </a:xfrm>
          <a:prstGeom prst="line">
            <a:avLst/>
          </a:prstGeom>
          <a:noFill/>
          <a:ln w="12700">
            <a:solidFill>
              <a:srgbClr val="333333"/>
            </a:solidFill>
            <a:prstDash val="solid"/>
          </a:ln>
        </p:spPr>
      </p:sp>
      <p:sp>
        <p:nvSpPr>
          <p:cNvPr id="6" name="Text 3"/>
          <p:cNvSpPr/>
          <p:nvPr/>
        </p:nvSpPr>
        <p:spPr>
          <a:xfrm>
            <a:off x="731520" y="1645920"/>
            <a:ext cx="5029200" cy="4389120"/>
          </a:xfrm>
          <a:prstGeom prst="rect">
            <a:avLst/>
          </a:prstGeom>
          <a:noFill/>
          <a:ln/>
        </p:spPr>
        <p:txBody>
          <a:bodyPr wrap="square" rtlCol="0" anchor="t"/>
          <a:lstStyle/>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Quantum algorithms offer significant speedups.</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Example: Grover's algorithm for search.</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Example: Shor's algorithm for factoring.</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Quantum machine learning algorithms show promise.</a:t>
            </a:r>
            <a:endParaRPr lang="en-US" sz="1500" dirty="0"/>
          </a:p>
        </p:txBody>
      </p:sp>
      <p:graphicFrame>
        <p:nvGraphicFramePr>
          <p:cNvPr id="7" name="Chart 0" descr=""/>
          <p:cNvGraphicFramePr/>
          <p:nvPr/>
        </p:nvGraphicFramePr>
        <p:xfrm>
          <a:off x="6400800" y="1645920"/>
          <a:ext cx="5029200" cy="43891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731520" y="457200"/>
            <a:ext cx="10725912" cy="731520"/>
          </a:xfrm>
          <a:prstGeom prst="rect">
            <a:avLst/>
          </a:prstGeom>
          <a:noFill/>
          <a:ln/>
        </p:spPr>
        <p:txBody>
          <a:bodyPr wrap="square" rtlCol="0" anchor="ctr"/>
          <a:lstStyle/>
          <a:p>
            <a:pPr indent="0" marL="0">
              <a:buNone/>
            </a:pPr>
            <a:r>
              <a:rPr lang="en-US" sz="2800" b="1" dirty="0">
                <a:solidFill>
                  <a:srgbClr val="111111"/>
                </a:solidFill>
                <a:latin typeface="Trebuchet MS" pitchFamily="34" charset="0"/>
                <a:ea typeface="Trebuchet MS" pitchFamily="34" charset="-122"/>
                <a:cs typeface="Trebuchet MS" pitchFamily="34" charset="-120"/>
              </a:rPr>
              <a:t>Key Quantum AI Algorithms</a:t>
            </a:r>
            <a:endParaRPr lang="en-US" sz="2800" dirty="0"/>
          </a:p>
        </p:txBody>
      </p:sp>
      <p:sp>
        <p:nvSpPr>
          <p:cNvPr id="4" name="Text 1"/>
          <p:cNvSpPr/>
          <p:nvPr/>
        </p:nvSpPr>
        <p:spPr>
          <a:xfrm>
            <a:off x="731520" y="228600"/>
            <a:ext cx="10725912" cy="274320"/>
          </a:xfrm>
          <a:prstGeom prst="rect">
            <a:avLst/>
          </a:prstGeom>
          <a:noFill/>
          <a:ln/>
        </p:spPr>
        <p:txBody>
          <a:bodyPr wrap="square" rtlCol="0" anchor="ctr"/>
          <a:lstStyle/>
          <a:p>
            <a:pPr indent="0" marL="0">
              <a:buNone/>
            </a:pPr>
            <a:r>
              <a:rPr lang="en-US" sz="1100" b="1" dirty="0">
                <a:solidFill>
                  <a:srgbClr val="E28413"/>
                </a:solidFill>
                <a:latin typeface="Calibri" pitchFamily="34" charset="0"/>
                <a:ea typeface="Calibri" pitchFamily="34" charset="-122"/>
                <a:cs typeface="Calibri" pitchFamily="34" charset="-120"/>
              </a:rPr>
              <a:t>FOUNDATIONAL TECHNIQUES</a:t>
            </a:r>
            <a:endParaRPr lang="en-US" sz="1100" dirty="0"/>
          </a:p>
        </p:txBody>
      </p:sp>
      <p:sp>
        <p:nvSpPr>
          <p:cNvPr id="5" name="Shape 2"/>
          <p:cNvSpPr/>
          <p:nvPr/>
        </p:nvSpPr>
        <p:spPr>
          <a:xfrm>
            <a:off x="731520" y="1188720"/>
            <a:ext cx="10725912" cy="9144"/>
          </a:xfrm>
          <a:prstGeom prst="line">
            <a:avLst/>
          </a:prstGeom>
          <a:noFill/>
          <a:ln w="12700">
            <a:solidFill>
              <a:srgbClr val="333333"/>
            </a:solidFill>
            <a:prstDash val="solid"/>
          </a:ln>
        </p:spPr>
      </p:sp>
      <p:sp>
        <p:nvSpPr>
          <p:cNvPr id="6" name="Text 3"/>
          <p:cNvSpPr/>
          <p:nvPr/>
        </p:nvSpPr>
        <p:spPr>
          <a:xfrm>
            <a:off x="731520" y="1645920"/>
            <a:ext cx="5029200" cy="4389120"/>
          </a:xfrm>
          <a:prstGeom prst="rect">
            <a:avLst/>
          </a:prstGeom>
          <a:noFill/>
          <a:ln/>
        </p:spPr>
        <p:txBody>
          <a:bodyPr wrap="square" rtlCol="0" anchor="t"/>
          <a:lstStyle/>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{"column1":["Quantum Support Vector Machines (QSVM)","Quantum Principal Component Analysis (QPCA)","Variational Quantum Eigensolver (VQE)"]}</a:t>
            </a:r>
            <a:endParaRPr lang="en-US" sz="1500" dirty="0"/>
          </a:p>
        </p:txBody>
      </p:sp>
      <p:sp>
        <p:nvSpPr>
          <p:cNvPr id="7" name="Text 4"/>
          <p:cNvSpPr/>
          <p:nvPr/>
        </p:nvSpPr>
        <p:spPr>
          <a:xfrm>
            <a:off x="6400800" y="1645920"/>
            <a:ext cx="5029200" cy="4389120"/>
          </a:xfrm>
          <a:prstGeom prst="rect">
            <a:avLst/>
          </a:prstGeom>
          <a:noFill/>
          <a:ln/>
        </p:spPr>
        <p:txBody>
          <a:bodyPr wrap="square" rtlCol="0" anchor="t"/>
          <a:lstStyle/>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{"column2":["Quantum Neural Networks (QNN)","Quantum Approximate Optimization Algorithm (QAOA)","Grover's Algorithm for Search"]}</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731520" y="457200"/>
            <a:ext cx="10725912" cy="731520"/>
          </a:xfrm>
          <a:prstGeom prst="rect">
            <a:avLst/>
          </a:prstGeom>
          <a:noFill/>
          <a:ln/>
        </p:spPr>
        <p:txBody>
          <a:bodyPr wrap="square" rtlCol="0" anchor="ctr"/>
          <a:lstStyle/>
          <a:p>
            <a:pPr indent="0" marL="0">
              <a:buNone/>
            </a:pPr>
            <a:r>
              <a:rPr lang="en-US" sz="2800" b="1" dirty="0">
                <a:solidFill>
                  <a:srgbClr val="111111"/>
                </a:solidFill>
                <a:latin typeface="Trebuchet MS" pitchFamily="34" charset="0"/>
                <a:ea typeface="Trebuchet MS" pitchFamily="34" charset="-122"/>
                <a:cs typeface="Trebuchet MS" pitchFamily="34" charset="-120"/>
              </a:rPr>
              <a:t>Applications: Drug Discovery</a:t>
            </a:r>
            <a:endParaRPr lang="en-US" sz="2800" dirty="0"/>
          </a:p>
        </p:txBody>
      </p:sp>
      <p:sp>
        <p:nvSpPr>
          <p:cNvPr id="4" name="Text 1"/>
          <p:cNvSpPr/>
          <p:nvPr/>
        </p:nvSpPr>
        <p:spPr>
          <a:xfrm>
            <a:off x="731520" y="228600"/>
            <a:ext cx="10725912" cy="274320"/>
          </a:xfrm>
          <a:prstGeom prst="rect">
            <a:avLst/>
          </a:prstGeom>
          <a:noFill/>
          <a:ln/>
        </p:spPr>
        <p:txBody>
          <a:bodyPr wrap="square" rtlCol="0" anchor="ctr"/>
          <a:lstStyle/>
          <a:p>
            <a:pPr indent="0" marL="0">
              <a:buNone/>
            </a:pPr>
            <a:r>
              <a:rPr lang="en-US" sz="1100" b="1" dirty="0">
                <a:solidFill>
                  <a:srgbClr val="E28413"/>
                </a:solidFill>
                <a:latin typeface="Calibri" pitchFamily="34" charset="0"/>
                <a:ea typeface="Calibri" pitchFamily="34" charset="-122"/>
                <a:cs typeface="Calibri" pitchFamily="34" charset="-120"/>
              </a:rPr>
              <a:t>ACCELERATING MOLECULAR SIMULATION</a:t>
            </a:r>
            <a:endParaRPr lang="en-US" sz="1100" dirty="0"/>
          </a:p>
        </p:txBody>
      </p:sp>
      <p:sp>
        <p:nvSpPr>
          <p:cNvPr id="5" name="Shape 2"/>
          <p:cNvSpPr/>
          <p:nvPr/>
        </p:nvSpPr>
        <p:spPr>
          <a:xfrm>
            <a:off x="731520" y="1188720"/>
            <a:ext cx="10725912" cy="9144"/>
          </a:xfrm>
          <a:prstGeom prst="line">
            <a:avLst/>
          </a:prstGeom>
          <a:noFill/>
          <a:ln w="12700">
            <a:solidFill>
              <a:srgbClr val="333333"/>
            </a:solidFill>
            <a:prstDash val="solid"/>
          </a:ln>
        </p:spPr>
      </p:sp>
      <p:sp>
        <p:nvSpPr>
          <p:cNvPr id="6" name="Shape 3"/>
          <p:cNvSpPr/>
          <p:nvPr/>
        </p:nvSpPr>
        <p:spPr>
          <a:xfrm>
            <a:off x="731520" y="1645920"/>
            <a:ext cx="4754880" cy="4389120"/>
          </a:xfrm>
          <a:prstGeom prst="rect">
            <a:avLst/>
          </a:prstGeom>
          <a:solidFill>
            <a:srgbClr val="EAEAEA"/>
          </a:solidFill>
          <a:ln w="19050">
            <a:solidFill>
              <a:srgbClr val="333333"/>
            </a:solidFill>
            <a:prstDash val="solid"/>
          </a:ln>
        </p:spPr>
      </p:sp>
      <p:sp>
        <p:nvSpPr>
          <p:cNvPr id="7" name="Text 4"/>
          <p:cNvSpPr/>
          <p:nvPr/>
        </p:nvSpPr>
        <p:spPr>
          <a:xfrm>
            <a:off x="914400" y="2011680"/>
            <a:ext cx="4389120" cy="3657600"/>
          </a:xfrm>
          <a:prstGeom prst="rect">
            <a:avLst/>
          </a:prstGeom>
          <a:noFill/>
          <a:ln/>
        </p:spPr>
        <p:txBody>
          <a:bodyPr wrap="square" rtlCol="0" anchor="ctr"/>
          <a:lstStyle/>
          <a:p>
            <a:pPr algn="ctr" indent="0" marL="0">
              <a:buNone/>
            </a:pPr>
            <a:r>
              <a:rPr lang="en-US" sz="1300" i="1" dirty="0">
                <a:solidFill>
                  <a:srgbClr val="EEEEEE"/>
                </a:solidFill>
                <a:latin typeface="Calibri" pitchFamily="34" charset="0"/>
                <a:ea typeface="Calibri" pitchFamily="34" charset="-122"/>
                <a:cs typeface="Calibri" pitchFamily="34" charset="-120"/>
              </a:rPr>
              <a:t>Visual Concept:</a:t>
            </a:r>
            <a:endParaRPr lang="en-US" sz="1300" dirty="0"/>
          </a:p>
          <a:p>
            <a:pPr algn="ctr" indent="0" marL="0">
              <a:buNone/>
            </a:pPr>
            <a:endParaRPr lang="en-US" sz="1300" dirty="0"/>
          </a:p>
          <a:p>
            <a:pPr algn="ctr" indent="0" marL="0">
              <a:buNone/>
            </a:pPr>
            <a:r>
              <a:rPr lang="en-US" sz="1300" i="1" dirty="0">
                <a:solidFill>
                  <a:srgbClr val="EEEEEE"/>
                </a:solidFill>
                <a:latin typeface="Calibri" pitchFamily="34" charset="0"/>
                <a:ea typeface="Calibri" pitchFamily="34" charset="-122"/>
                <a:cs typeface="Calibri" pitchFamily="34" charset="-120"/>
              </a:rPr>
              <a:t>"Image of a complex 3D molecular structure with glowing connections, superimposed on a background of scientific research data. Dark, high-tech feel."</a:t>
            </a:r>
            <a:endParaRPr lang="en-US" sz="1300" dirty="0"/>
          </a:p>
        </p:txBody>
      </p:sp>
      <p:sp>
        <p:nvSpPr>
          <p:cNvPr id="8" name="Text 5"/>
          <p:cNvSpPr/>
          <p:nvPr/>
        </p:nvSpPr>
        <p:spPr>
          <a:xfrm>
            <a:off x="6035040" y="1645920"/>
            <a:ext cx="5394960" cy="4389120"/>
          </a:xfrm>
          <a:prstGeom prst="rect">
            <a:avLst/>
          </a:prstGeom>
          <a:noFill/>
          <a:ln/>
        </p:spPr>
        <p:txBody>
          <a:bodyPr wrap="square" rtlCol="0" anchor="t"/>
          <a:lstStyle/>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Simulating molecular interactions with high accuracy.</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Predicting drug efficacy and side effects.</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Designing novel therapeutic molecules.</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Reducing development time and cost.</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Personalized medicine potential.</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731520" y="457200"/>
            <a:ext cx="10725912" cy="731520"/>
          </a:xfrm>
          <a:prstGeom prst="rect">
            <a:avLst/>
          </a:prstGeom>
          <a:noFill/>
          <a:ln/>
        </p:spPr>
        <p:txBody>
          <a:bodyPr wrap="square" rtlCol="0" anchor="ctr"/>
          <a:lstStyle/>
          <a:p>
            <a:pPr indent="0" marL="0">
              <a:buNone/>
            </a:pPr>
            <a:r>
              <a:rPr lang="en-US" sz="2800" b="1" dirty="0">
                <a:solidFill>
                  <a:srgbClr val="111111"/>
                </a:solidFill>
                <a:latin typeface="Trebuchet MS" pitchFamily="34" charset="0"/>
                <a:ea typeface="Trebuchet MS" pitchFamily="34" charset="-122"/>
                <a:cs typeface="Trebuchet MS" pitchFamily="34" charset="-120"/>
              </a:rPr>
              <a:t>Applications: Materials Science</a:t>
            </a:r>
            <a:endParaRPr lang="en-US" sz="2800" dirty="0"/>
          </a:p>
        </p:txBody>
      </p:sp>
      <p:sp>
        <p:nvSpPr>
          <p:cNvPr id="4" name="Text 1"/>
          <p:cNvSpPr/>
          <p:nvPr/>
        </p:nvSpPr>
        <p:spPr>
          <a:xfrm>
            <a:off x="731520" y="228600"/>
            <a:ext cx="10725912" cy="274320"/>
          </a:xfrm>
          <a:prstGeom prst="rect">
            <a:avLst/>
          </a:prstGeom>
          <a:noFill/>
          <a:ln/>
        </p:spPr>
        <p:txBody>
          <a:bodyPr wrap="square" rtlCol="0" anchor="ctr"/>
          <a:lstStyle/>
          <a:p>
            <a:pPr indent="0" marL="0">
              <a:buNone/>
            </a:pPr>
            <a:r>
              <a:rPr lang="en-US" sz="1100" b="1" dirty="0">
                <a:solidFill>
                  <a:srgbClr val="E28413"/>
                </a:solidFill>
                <a:latin typeface="Calibri" pitchFamily="34" charset="0"/>
                <a:ea typeface="Calibri" pitchFamily="34" charset="-122"/>
                <a:cs typeface="Calibri" pitchFamily="34" charset="-120"/>
              </a:rPr>
              <a:t>DESIGNING NEXT-GENERATION MATERIALS</a:t>
            </a:r>
            <a:endParaRPr lang="en-US" sz="1100" dirty="0"/>
          </a:p>
        </p:txBody>
      </p:sp>
      <p:sp>
        <p:nvSpPr>
          <p:cNvPr id="5" name="Shape 2"/>
          <p:cNvSpPr/>
          <p:nvPr/>
        </p:nvSpPr>
        <p:spPr>
          <a:xfrm>
            <a:off x="731520" y="1188720"/>
            <a:ext cx="10725912" cy="9144"/>
          </a:xfrm>
          <a:prstGeom prst="line">
            <a:avLst/>
          </a:prstGeom>
          <a:noFill/>
          <a:ln w="12700">
            <a:solidFill>
              <a:srgbClr val="333333"/>
            </a:solidFill>
            <a:prstDash val="solid"/>
          </a:ln>
        </p:spPr>
      </p:sp>
      <p:sp>
        <p:nvSpPr>
          <p:cNvPr id="6" name="Text 3"/>
          <p:cNvSpPr/>
          <p:nvPr/>
        </p:nvSpPr>
        <p:spPr>
          <a:xfrm>
            <a:off x="731520" y="1645920"/>
            <a:ext cx="5394960" cy="4389120"/>
          </a:xfrm>
          <a:prstGeom prst="rect">
            <a:avLst/>
          </a:prstGeom>
          <a:noFill/>
          <a:ln/>
        </p:spPr>
        <p:txBody>
          <a:bodyPr wrap="square" rtlCol="0" anchor="t"/>
          <a:lstStyle/>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Simulating material properties at the quantum level.</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Discovering materials with desired characteristics.</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Developing superconductors and catalysts.</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Creating lighter, stronger alloys.</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Advancing sustainable technologies.</a:t>
            </a:r>
            <a:endParaRPr lang="en-US" sz="1500" dirty="0"/>
          </a:p>
        </p:txBody>
      </p:sp>
      <p:sp>
        <p:nvSpPr>
          <p:cNvPr id="7" name="Shape 4"/>
          <p:cNvSpPr/>
          <p:nvPr/>
        </p:nvSpPr>
        <p:spPr>
          <a:xfrm>
            <a:off x="6675120" y="1645920"/>
            <a:ext cx="4754880" cy="4389120"/>
          </a:xfrm>
          <a:prstGeom prst="rect">
            <a:avLst/>
          </a:prstGeom>
          <a:solidFill>
            <a:srgbClr val="EAEAEA"/>
          </a:solidFill>
          <a:ln w="19050">
            <a:solidFill>
              <a:srgbClr val="333333"/>
            </a:solidFill>
            <a:prstDash val="solid"/>
          </a:ln>
        </p:spPr>
      </p:sp>
      <p:sp>
        <p:nvSpPr>
          <p:cNvPr id="8" name="Text 5"/>
          <p:cNvSpPr/>
          <p:nvPr/>
        </p:nvSpPr>
        <p:spPr>
          <a:xfrm>
            <a:off x="6858000" y="2011680"/>
            <a:ext cx="4389120" cy="3657600"/>
          </a:xfrm>
          <a:prstGeom prst="rect">
            <a:avLst/>
          </a:prstGeom>
          <a:noFill/>
          <a:ln/>
        </p:spPr>
        <p:txBody>
          <a:bodyPr wrap="square" rtlCol="0" anchor="ctr"/>
          <a:lstStyle/>
          <a:p>
            <a:pPr algn="ctr" indent="0" marL="0">
              <a:buNone/>
            </a:pPr>
            <a:r>
              <a:rPr lang="en-US" sz="1300" i="1" dirty="0">
                <a:solidFill>
                  <a:srgbClr val="EEEEEE"/>
                </a:solidFill>
                <a:latin typeface="Calibri" pitchFamily="34" charset="0"/>
                <a:ea typeface="Calibri" pitchFamily="34" charset="-122"/>
                <a:cs typeface="Calibri" pitchFamily="34" charset="-120"/>
              </a:rPr>
              <a:t>Visual Concept:</a:t>
            </a:r>
            <a:endParaRPr lang="en-US" sz="1300" dirty="0"/>
          </a:p>
          <a:p>
            <a:pPr algn="ctr" indent="0" marL="0">
              <a:buNone/>
            </a:pPr>
            <a:endParaRPr lang="en-US" sz="1300" dirty="0"/>
          </a:p>
          <a:p>
            <a:pPr algn="ctr" indent="0" marL="0">
              <a:buNone/>
            </a:pPr>
            <a:r>
              <a:rPr lang="en-US" sz="1300" i="1" dirty="0">
                <a:solidFill>
                  <a:srgbClr val="EEEEEE"/>
                </a:solidFill>
                <a:latin typeface="Calibri" pitchFamily="34" charset="0"/>
                <a:ea typeface="Calibri" pitchFamily="34" charset="-122"/>
                <a:cs typeface="Calibri" pitchFamily="34" charset="-120"/>
              </a:rPr>
              <a:t>"Image showcasing the structure of a novel material, perhaps a futuristic alloy or a complex crystal lattice. Dark, sleek design."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731520" y="457200"/>
            <a:ext cx="10725912" cy="731520"/>
          </a:xfrm>
          <a:prstGeom prst="rect">
            <a:avLst/>
          </a:prstGeom>
          <a:noFill/>
          <a:ln/>
        </p:spPr>
        <p:txBody>
          <a:bodyPr wrap="square" rtlCol="0" anchor="ctr"/>
          <a:lstStyle/>
          <a:p>
            <a:pPr indent="0" marL="0">
              <a:buNone/>
            </a:pPr>
            <a:r>
              <a:rPr lang="en-US" sz="2800" b="1" dirty="0">
                <a:solidFill>
                  <a:srgbClr val="111111"/>
                </a:solidFill>
                <a:latin typeface="Trebuchet MS" pitchFamily="34" charset="0"/>
                <a:ea typeface="Trebuchet MS" pitchFamily="34" charset="-122"/>
                <a:cs typeface="Trebuchet MS" pitchFamily="34" charset="-120"/>
              </a:rPr>
              <a:t>Applications: Finance and Optimization</a:t>
            </a:r>
            <a:endParaRPr lang="en-US" sz="2800" dirty="0"/>
          </a:p>
        </p:txBody>
      </p:sp>
      <p:sp>
        <p:nvSpPr>
          <p:cNvPr id="4" name="Text 1"/>
          <p:cNvSpPr/>
          <p:nvPr/>
        </p:nvSpPr>
        <p:spPr>
          <a:xfrm>
            <a:off x="731520" y="228600"/>
            <a:ext cx="10725912" cy="274320"/>
          </a:xfrm>
          <a:prstGeom prst="rect">
            <a:avLst/>
          </a:prstGeom>
          <a:noFill/>
          <a:ln/>
        </p:spPr>
        <p:txBody>
          <a:bodyPr wrap="square" rtlCol="0" anchor="ctr"/>
          <a:lstStyle/>
          <a:p>
            <a:pPr indent="0" marL="0">
              <a:buNone/>
            </a:pPr>
            <a:r>
              <a:rPr lang="en-US" sz="1100" b="1" dirty="0">
                <a:solidFill>
                  <a:srgbClr val="E28413"/>
                </a:solidFill>
                <a:latin typeface="Calibri" pitchFamily="34" charset="0"/>
                <a:ea typeface="Calibri" pitchFamily="34" charset="-122"/>
                <a:cs typeface="Calibri" pitchFamily="34" charset="-120"/>
              </a:rPr>
              <a:t>SOLVING COMPLEX FINANCIAL PROBLEMS</a:t>
            </a:r>
            <a:endParaRPr lang="en-US" sz="1100" dirty="0"/>
          </a:p>
        </p:txBody>
      </p:sp>
      <p:sp>
        <p:nvSpPr>
          <p:cNvPr id="5" name="Shape 2"/>
          <p:cNvSpPr/>
          <p:nvPr/>
        </p:nvSpPr>
        <p:spPr>
          <a:xfrm>
            <a:off x="731520" y="1188720"/>
            <a:ext cx="10725912" cy="9144"/>
          </a:xfrm>
          <a:prstGeom prst="line">
            <a:avLst/>
          </a:prstGeom>
          <a:noFill/>
          <a:ln w="12700">
            <a:solidFill>
              <a:srgbClr val="333333"/>
            </a:solidFill>
            <a:prstDash val="solid"/>
          </a:ln>
        </p:spPr>
      </p:sp>
      <p:sp>
        <p:nvSpPr>
          <p:cNvPr id="6" name="Shape 3"/>
          <p:cNvSpPr/>
          <p:nvPr/>
        </p:nvSpPr>
        <p:spPr>
          <a:xfrm>
            <a:off x="731520" y="1645920"/>
            <a:ext cx="4754880" cy="4389120"/>
          </a:xfrm>
          <a:prstGeom prst="rect">
            <a:avLst/>
          </a:prstGeom>
          <a:solidFill>
            <a:srgbClr val="EAEAEA"/>
          </a:solidFill>
          <a:ln w="19050">
            <a:solidFill>
              <a:srgbClr val="333333"/>
            </a:solidFill>
            <a:prstDash val="solid"/>
          </a:ln>
        </p:spPr>
      </p:sp>
      <p:sp>
        <p:nvSpPr>
          <p:cNvPr id="7" name="Text 4"/>
          <p:cNvSpPr/>
          <p:nvPr/>
        </p:nvSpPr>
        <p:spPr>
          <a:xfrm>
            <a:off x="914400" y="2011680"/>
            <a:ext cx="4389120" cy="3657600"/>
          </a:xfrm>
          <a:prstGeom prst="rect">
            <a:avLst/>
          </a:prstGeom>
          <a:noFill/>
          <a:ln/>
        </p:spPr>
        <p:txBody>
          <a:bodyPr wrap="square" rtlCol="0" anchor="ctr"/>
          <a:lstStyle/>
          <a:p>
            <a:pPr algn="ctr" indent="0" marL="0">
              <a:buNone/>
            </a:pPr>
            <a:r>
              <a:rPr lang="en-US" sz="1300" i="1" dirty="0">
                <a:solidFill>
                  <a:srgbClr val="EEEEEE"/>
                </a:solidFill>
                <a:latin typeface="Calibri" pitchFamily="34" charset="0"/>
                <a:ea typeface="Calibri" pitchFamily="34" charset="-122"/>
                <a:cs typeface="Calibri" pitchFamily="34" charset="-120"/>
              </a:rPr>
              <a:t>Visual Concept:</a:t>
            </a:r>
            <a:endParaRPr lang="en-US" sz="1300" dirty="0"/>
          </a:p>
          <a:p>
            <a:pPr algn="ctr" indent="0" marL="0">
              <a:buNone/>
            </a:pPr>
            <a:endParaRPr lang="en-US" sz="1300" dirty="0"/>
          </a:p>
          <a:p>
            <a:pPr algn="ctr" indent="0" marL="0">
              <a:buNone/>
            </a:pPr>
            <a:r>
              <a:rPr lang="en-US" sz="1300" i="1" dirty="0">
                <a:solidFill>
                  <a:srgbClr val="EEEEEE"/>
                </a:solidFill>
                <a:latin typeface="Calibri" pitchFamily="34" charset="0"/>
                <a:ea typeface="Calibri" pitchFamily="34" charset="-122"/>
                <a:cs typeface="Calibri" pitchFamily="34" charset="-120"/>
              </a:rPr>
              <a:t>"Abstract visualization of financial data streams and complex network connections, with a subtle quantum ripple effect. Dark, sophisticated aesthetic."</a:t>
            </a:r>
            <a:endParaRPr lang="en-US" sz="1300" dirty="0"/>
          </a:p>
        </p:txBody>
      </p:sp>
      <p:sp>
        <p:nvSpPr>
          <p:cNvPr id="8" name="Text 5"/>
          <p:cNvSpPr/>
          <p:nvPr/>
        </p:nvSpPr>
        <p:spPr>
          <a:xfrm>
            <a:off x="6035040" y="1645920"/>
            <a:ext cx="5394960" cy="4389120"/>
          </a:xfrm>
          <a:prstGeom prst="rect">
            <a:avLst/>
          </a:prstGeom>
          <a:noFill/>
          <a:ln/>
        </p:spPr>
        <p:txBody>
          <a:bodyPr wrap="square" rtlCol="0" anchor="t"/>
          <a:lstStyle/>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Optimizing investment portfolios.</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Improving risk analysis and modeling.</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Enhancing fraud detection capabilities.</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Streamlining logistics and supply chains.</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Solving complex combinatorial problems.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731520" y="457200"/>
            <a:ext cx="10725912" cy="731520"/>
          </a:xfrm>
          <a:prstGeom prst="rect">
            <a:avLst/>
          </a:prstGeom>
          <a:noFill/>
          <a:ln/>
        </p:spPr>
        <p:txBody>
          <a:bodyPr wrap="square" rtlCol="0" anchor="ctr"/>
          <a:lstStyle/>
          <a:p>
            <a:pPr indent="0" marL="0">
              <a:buNone/>
            </a:pPr>
            <a:r>
              <a:rPr lang="en-US" sz="2800" b="1" dirty="0">
                <a:solidFill>
                  <a:srgbClr val="111111"/>
                </a:solidFill>
                <a:latin typeface="Trebuchet MS" pitchFamily="34" charset="0"/>
                <a:ea typeface="Trebuchet MS" pitchFamily="34" charset="-122"/>
                <a:cs typeface="Trebuchet MS" pitchFamily="34" charset="-120"/>
              </a:rPr>
              <a:t>Current Challenges</a:t>
            </a:r>
            <a:endParaRPr lang="en-US" sz="2800" dirty="0"/>
          </a:p>
        </p:txBody>
      </p:sp>
      <p:sp>
        <p:nvSpPr>
          <p:cNvPr id="4" name="Text 1"/>
          <p:cNvSpPr/>
          <p:nvPr/>
        </p:nvSpPr>
        <p:spPr>
          <a:xfrm>
            <a:off x="731520" y="228600"/>
            <a:ext cx="10725912" cy="274320"/>
          </a:xfrm>
          <a:prstGeom prst="rect">
            <a:avLst/>
          </a:prstGeom>
          <a:noFill/>
          <a:ln/>
        </p:spPr>
        <p:txBody>
          <a:bodyPr wrap="square" rtlCol="0" anchor="ctr"/>
          <a:lstStyle/>
          <a:p>
            <a:pPr indent="0" marL="0">
              <a:buNone/>
            </a:pPr>
            <a:r>
              <a:rPr lang="en-US" sz="1100" b="1" dirty="0">
                <a:solidFill>
                  <a:srgbClr val="E28413"/>
                </a:solidFill>
                <a:latin typeface="Calibri" pitchFamily="34" charset="0"/>
                <a:ea typeface="Calibri" pitchFamily="34" charset="-122"/>
                <a:cs typeface="Calibri" pitchFamily="34" charset="-120"/>
              </a:rPr>
              <a:t>OBSTACLES ON THE PATH FORWARD</a:t>
            </a:r>
            <a:endParaRPr lang="en-US" sz="1100" dirty="0"/>
          </a:p>
        </p:txBody>
      </p:sp>
      <p:sp>
        <p:nvSpPr>
          <p:cNvPr id="5" name="Shape 2"/>
          <p:cNvSpPr/>
          <p:nvPr/>
        </p:nvSpPr>
        <p:spPr>
          <a:xfrm>
            <a:off x="731520" y="1188720"/>
            <a:ext cx="10725912" cy="9144"/>
          </a:xfrm>
          <a:prstGeom prst="line">
            <a:avLst/>
          </a:prstGeom>
          <a:noFill/>
          <a:ln w="12700">
            <a:solidFill>
              <a:srgbClr val="333333"/>
            </a:solidFill>
            <a:prstDash val="solid"/>
          </a:ln>
        </p:spPr>
      </p:sp>
      <p:sp>
        <p:nvSpPr>
          <p:cNvPr id="6" name="Text 3"/>
          <p:cNvSpPr/>
          <p:nvPr/>
        </p:nvSpPr>
        <p:spPr>
          <a:xfrm>
            <a:off x="731520" y="1645920"/>
            <a:ext cx="10725912" cy="4389120"/>
          </a:xfrm>
          <a:prstGeom prst="rect">
            <a:avLst/>
          </a:prstGeom>
          <a:noFill/>
          <a:ln/>
        </p:spPr>
        <p:txBody>
          <a:bodyPr wrap="square" rtlCol="0" anchor="t"/>
          <a:lstStyle/>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Hardware limitations: qubit stability, error rates.</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Algorithm development is still nascent.</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Need for specialized expertise and talent.</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High cost of quantum hardware.</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Integration with existing classical systems.</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731520" y="457200"/>
            <a:ext cx="10725912" cy="731520"/>
          </a:xfrm>
          <a:prstGeom prst="rect">
            <a:avLst/>
          </a:prstGeom>
          <a:noFill/>
          <a:ln/>
        </p:spPr>
        <p:txBody>
          <a:bodyPr wrap="square" rtlCol="0" anchor="ctr"/>
          <a:lstStyle/>
          <a:p>
            <a:pPr indent="0" marL="0">
              <a:buNone/>
            </a:pPr>
            <a:r>
              <a:rPr lang="en-US" sz="2800" b="1" dirty="0">
                <a:solidFill>
                  <a:srgbClr val="111111"/>
                </a:solidFill>
                <a:latin typeface="Trebuchet MS" pitchFamily="34" charset="0"/>
                <a:ea typeface="Trebuchet MS" pitchFamily="34" charset="-122"/>
                <a:cs typeface="Trebuchet MS" pitchFamily="34" charset="-120"/>
              </a:rPr>
              <a:t>Quantum AI: A Look Ahead</a:t>
            </a:r>
            <a:endParaRPr lang="en-US" sz="2800" dirty="0"/>
          </a:p>
        </p:txBody>
      </p:sp>
      <p:sp>
        <p:nvSpPr>
          <p:cNvPr id="4" name="Text 1"/>
          <p:cNvSpPr/>
          <p:nvPr/>
        </p:nvSpPr>
        <p:spPr>
          <a:xfrm>
            <a:off x="731520" y="228600"/>
            <a:ext cx="10725912" cy="274320"/>
          </a:xfrm>
          <a:prstGeom prst="rect">
            <a:avLst/>
          </a:prstGeom>
          <a:noFill/>
          <a:ln/>
        </p:spPr>
        <p:txBody>
          <a:bodyPr wrap="square" rtlCol="0" anchor="ctr"/>
          <a:lstStyle/>
          <a:p>
            <a:pPr indent="0" marL="0">
              <a:buNone/>
            </a:pPr>
            <a:r>
              <a:rPr lang="en-US" sz="1100" b="1" dirty="0">
                <a:solidFill>
                  <a:srgbClr val="E28413"/>
                </a:solidFill>
                <a:latin typeface="Calibri" pitchFamily="34" charset="0"/>
                <a:ea typeface="Calibri" pitchFamily="34" charset="-122"/>
                <a:cs typeface="Calibri" pitchFamily="34" charset="-120"/>
              </a:rPr>
              <a:t>MILESTONES AND FUTURE PROJECTIONS</a:t>
            </a:r>
            <a:endParaRPr lang="en-US" sz="1100" dirty="0"/>
          </a:p>
        </p:txBody>
      </p:sp>
      <p:sp>
        <p:nvSpPr>
          <p:cNvPr id="5" name="Shape 2"/>
          <p:cNvSpPr/>
          <p:nvPr/>
        </p:nvSpPr>
        <p:spPr>
          <a:xfrm>
            <a:off x="731520" y="1188720"/>
            <a:ext cx="10725912" cy="9144"/>
          </a:xfrm>
          <a:prstGeom prst="line">
            <a:avLst/>
          </a:prstGeom>
          <a:noFill/>
          <a:ln w="12700">
            <a:solidFill>
              <a:srgbClr val="333333"/>
            </a:solidFill>
            <a:prstDash val="solid"/>
          </a:ln>
        </p:spPr>
      </p:sp>
      <p:sp>
        <p:nvSpPr>
          <p:cNvPr id="6" name="Shape 3"/>
          <p:cNvSpPr/>
          <p:nvPr/>
        </p:nvSpPr>
        <p:spPr>
          <a:xfrm>
            <a:off x="731520" y="3657600"/>
            <a:ext cx="10725912" cy="0"/>
          </a:xfrm>
          <a:prstGeom prst="line">
            <a:avLst/>
          </a:prstGeom>
          <a:noFill/>
          <a:ln w="38100">
            <a:solidFill>
              <a:srgbClr val="333333"/>
            </a:solidFill>
            <a:prstDash val="solid"/>
          </a:ln>
        </p:spPr>
      </p:sp>
      <p:sp>
        <p:nvSpPr>
          <p:cNvPr id="7" name="Shape 4"/>
          <p:cNvSpPr/>
          <p:nvPr/>
        </p:nvSpPr>
        <p:spPr>
          <a:xfrm>
            <a:off x="2404872" y="3543300"/>
            <a:ext cx="228600" cy="228600"/>
          </a:xfrm>
          <a:prstGeom prst="ellipse">
            <a:avLst/>
          </a:prstGeom>
          <a:solidFill>
            <a:srgbClr val="E28413"/>
          </a:solidFill>
          <a:ln/>
        </p:spPr>
      </p:sp>
      <p:sp>
        <p:nvSpPr>
          <p:cNvPr id="8" name="Shape 5"/>
          <p:cNvSpPr/>
          <p:nvPr/>
        </p:nvSpPr>
        <p:spPr>
          <a:xfrm>
            <a:off x="2519172" y="3200400"/>
            <a:ext cx="0" cy="457200"/>
          </a:xfrm>
          <a:prstGeom prst="line">
            <a:avLst/>
          </a:prstGeom>
          <a:noFill/>
          <a:ln w="12700">
            <a:solidFill>
              <a:srgbClr val="E28413"/>
            </a:solidFill>
            <a:prstDash val="dash"/>
          </a:ln>
        </p:spPr>
      </p:sp>
      <p:sp>
        <p:nvSpPr>
          <p:cNvPr id="9" name="Shape 6"/>
          <p:cNvSpPr/>
          <p:nvPr/>
        </p:nvSpPr>
        <p:spPr>
          <a:xfrm>
            <a:off x="868680" y="1828800"/>
            <a:ext cx="3300984" cy="1645920"/>
          </a:xfrm>
          <a:prstGeom prst="rect">
            <a:avLst/>
          </a:prstGeom>
          <a:solidFill>
            <a:srgbClr val="FFFFFF"/>
          </a:solidFill>
          <a:ln w="12700">
            <a:solidFill>
              <a:srgbClr val="333333"/>
            </a:solidFill>
            <a:prstDash val="solid"/>
          </a:ln>
        </p:spPr>
      </p:sp>
      <p:sp>
        <p:nvSpPr>
          <p:cNvPr id="10" name="Text 7"/>
          <p:cNvSpPr/>
          <p:nvPr/>
        </p:nvSpPr>
        <p:spPr>
          <a:xfrm>
            <a:off x="914400" y="1920240"/>
            <a:ext cx="3209544" cy="274320"/>
          </a:xfrm>
          <a:prstGeom prst="rect">
            <a:avLst/>
          </a:prstGeom>
          <a:noFill/>
          <a:ln/>
        </p:spPr>
        <p:txBody>
          <a:bodyPr wrap="square" rtlCol="0" anchor="ctr"/>
          <a:lstStyle/>
          <a:p>
            <a:pPr algn="ctr" indent="0" marL="0">
              <a:buNone/>
            </a:pPr>
            <a:r>
              <a:rPr lang="en-US" sz="1200" b="1" dirty="0">
                <a:solidFill>
                  <a:srgbClr val="111111"/>
                </a:solidFill>
                <a:latin typeface="Trebuchet MS" pitchFamily="34" charset="0"/>
                <a:ea typeface="Trebuchet MS" pitchFamily="34" charset="-122"/>
                <a:cs typeface="Trebuchet MS" pitchFamily="34" charset="-120"/>
              </a:rPr>
              <a:t>Step 1</a:t>
            </a:r>
            <a:endParaRPr lang="en-US" sz="1200" dirty="0"/>
          </a:p>
        </p:txBody>
      </p:sp>
      <p:sp>
        <p:nvSpPr>
          <p:cNvPr id="11" name="Text 8"/>
          <p:cNvSpPr/>
          <p:nvPr/>
        </p:nvSpPr>
        <p:spPr>
          <a:xfrm>
            <a:off x="914400" y="2240280"/>
            <a:ext cx="3209544" cy="1143000"/>
          </a:xfrm>
          <a:prstGeom prst="rect">
            <a:avLst/>
          </a:prstGeom>
          <a:noFill/>
          <a:ln/>
        </p:spPr>
        <p:txBody>
          <a:bodyPr wrap="square" rtlCol="0" anchor="t"/>
          <a:lstStyle/>
          <a:p>
            <a:pPr algn="ctr" indent="0" marL="0">
              <a:buNone/>
            </a:pPr>
            <a:r>
              <a:rPr lang="en-US" sz="1000" dirty="0">
                <a:solidFill>
                  <a:srgbClr val="EEEEEE"/>
                </a:solidFill>
                <a:latin typeface="Calibri" pitchFamily="34" charset="0"/>
                <a:ea typeface="Calibri" pitchFamily="34" charset="-122"/>
                <a:cs typeface="Calibri" pitchFamily="34" charset="-120"/>
              </a:rPr>
              <a:t>{"year":"Near-Term (1-5 Years)","description":"NISQ era applications, hybrid quantum-classical models, algorithm refinement."}</a:t>
            </a:r>
            <a:endParaRPr lang="en-US" sz="1000" dirty="0"/>
          </a:p>
        </p:txBody>
      </p:sp>
      <p:sp>
        <p:nvSpPr>
          <p:cNvPr id="12" name="Shape 9"/>
          <p:cNvSpPr/>
          <p:nvPr/>
        </p:nvSpPr>
        <p:spPr>
          <a:xfrm>
            <a:off x="5980176" y="3543300"/>
            <a:ext cx="228600" cy="228600"/>
          </a:xfrm>
          <a:prstGeom prst="ellipse">
            <a:avLst/>
          </a:prstGeom>
          <a:solidFill>
            <a:srgbClr val="E28413"/>
          </a:solidFill>
          <a:ln/>
        </p:spPr>
      </p:sp>
      <p:sp>
        <p:nvSpPr>
          <p:cNvPr id="13" name="Shape 10"/>
          <p:cNvSpPr/>
          <p:nvPr/>
        </p:nvSpPr>
        <p:spPr>
          <a:xfrm>
            <a:off x="6094476" y="3657600"/>
            <a:ext cx="0" cy="457200"/>
          </a:xfrm>
          <a:prstGeom prst="line">
            <a:avLst/>
          </a:prstGeom>
          <a:noFill/>
          <a:ln w="12700">
            <a:solidFill>
              <a:srgbClr val="E28413"/>
            </a:solidFill>
            <a:prstDash val="dash"/>
          </a:ln>
        </p:spPr>
      </p:sp>
      <p:sp>
        <p:nvSpPr>
          <p:cNvPr id="14" name="Shape 11"/>
          <p:cNvSpPr/>
          <p:nvPr/>
        </p:nvSpPr>
        <p:spPr>
          <a:xfrm>
            <a:off x="4443984" y="4023360"/>
            <a:ext cx="3300984" cy="1645920"/>
          </a:xfrm>
          <a:prstGeom prst="rect">
            <a:avLst/>
          </a:prstGeom>
          <a:solidFill>
            <a:srgbClr val="FFFFFF"/>
          </a:solidFill>
          <a:ln w="12700">
            <a:solidFill>
              <a:srgbClr val="333333"/>
            </a:solidFill>
            <a:prstDash val="solid"/>
          </a:ln>
        </p:spPr>
      </p:sp>
      <p:sp>
        <p:nvSpPr>
          <p:cNvPr id="15" name="Text 12"/>
          <p:cNvSpPr/>
          <p:nvPr/>
        </p:nvSpPr>
        <p:spPr>
          <a:xfrm>
            <a:off x="4489704" y="4114800"/>
            <a:ext cx="3209544" cy="274320"/>
          </a:xfrm>
          <a:prstGeom prst="rect">
            <a:avLst/>
          </a:prstGeom>
          <a:noFill/>
          <a:ln/>
        </p:spPr>
        <p:txBody>
          <a:bodyPr wrap="square" rtlCol="0" anchor="ctr"/>
          <a:lstStyle/>
          <a:p>
            <a:pPr algn="ctr" indent="0" marL="0">
              <a:buNone/>
            </a:pPr>
            <a:r>
              <a:rPr lang="en-US" sz="1200" b="1" dirty="0">
                <a:solidFill>
                  <a:srgbClr val="111111"/>
                </a:solidFill>
                <a:latin typeface="Trebuchet MS" pitchFamily="34" charset="0"/>
                <a:ea typeface="Trebuchet MS" pitchFamily="34" charset="-122"/>
                <a:cs typeface="Trebuchet MS" pitchFamily="34" charset="-120"/>
              </a:rPr>
              <a:t>Step 2</a:t>
            </a:r>
            <a:endParaRPr lang="en-US" sz="1200" dirty="0"/>
          </a:p>
        </p:txBody>
      </p:sp>
      <p:sp>
        <p:nvSpPr>
          <p:cNvPr id="16" name="Text 13"/>
          <p:cNvSpPr/>
          <p:nvPr/>
        </p:nvSpPr>
        <p:spPr>
          <a:xfrm>
            <a:off x="4489704" y="4434840"/>
            <a:ext cx="3209544" cy="1143000"/>
          </a:xfrm>
          <a:prstGeom prst="rect">
            <a:avLst/>
          </a:prstGeom>
          <a:noFill/>
          <a:ln/>
        </p:spPr>
        <p:txBody>
          <a:bodyPr wrap="square" rtlCol="0" anchor="t"/>
          <a:lstStyle/>
          <a:p>
            <a:pPr algn="ctr" indent="0" marL="0">
              <a:buNone/>
            </a:pPr>
            <a:r>
              <a:rPr lang="en-US" sz="1000" dirty="0">
                <a:solidFill>
                  <a:srgbClr val="EEEEEE"/>
                </a:solidFill>
                <a:latin typeface="Calibri" pitchFamily="34" charset="0"/>
                <a:ea typeface="Calibri" pitchFamily="34" charset="-122"/>
                <a:cs typeface="Calibri" pitchFamily="34" charset="-120"/>
              </a:rPr>
              <a:t>{"year":"Mid-Term (5-15 Years)","description":"Fault-tolerant quantum computers emerge, broader application in science and finance."}</a:t>
            </a:r>
            <a:endParaRPr lang="en-US" sz="1000" dirty="0"/>
          </a:p>
        </p:txBody>
      </p:sp>
      <p:sp>
        <p:nvSpPr>
          <p:cNvPr id="17" name="Shape 14"/>
          <p:cNvSpPr/>
          <p:nvPr/>
        </p:nvSpPr>
        <p:spPr>
          <a:xfrm>
            <a:off x="9555480" y="3543300"/>
            <a:ext cx="228600" cy="228600"/>
          </a:xfrm>
          <a:prstGeom prst="ellipse">
            <a:avLst/>
          </a:prstGeom>
          <a:solidFill>
            <a:srgbClr val="E28413"/>
          </a:solidFill>
          <a:ln/>
        </p:spPr>
      </p:sp>
      <p:sp>
        <p:nvSpPr>
          <p:cNvPr id="18" name="Shape 15"/>
          <p:cNvSpPr/>
          <p:nvPr/>
        </p:nvSpPr>
        <p:spPr>
          <a:xfrm>
            <a:off x="9669780" y="3200400"/>
            <a:ext cx="0" cy="457200"/>
          </a:xfrm>
          <a:prstGeom prst="line">
            <a:avLst/>
          </a:prstGeom>
          <a:noFill/>
          <a:ln w="12700">
            <a:solidFill>
              <a:srgbClr val="E28413"/>
            </a:solidFill>
            <a:prstDash val="dash"/>
          </a:ln>
        </p:spPr>
      </p:sp>
      <p:sp>
        <p:nvSpPr>
          <p:cNvPr id="19" name="Shape 16"/>
          <p:cNvSpPr/>
          <p:nvPr/>
        </p:nvSpPr>
        <p:spPr>
          <a:xfrm>
            <a:off x="8019288" y="1828800"/>
            <a:ext cx="3300984" cy="1645920"/>
          </a:xfrm>
          <a:prstGeom prst="rect">
            <a:avLst/>
          </a:prstGeom>
          <a:solidFill>
            <a:srgbClr val="FFFFFF"/>
          </a:solidFill>
          <a:ln w="12700">
            <a:solidFill>
              <a:srgbClr val="333333"/>
            </a:solidFill>
            <a:prstDash val="solid"/>
          </a:ln>
        </p:spPr>
      </p:sp>
      <p:sp>
        <p:nvSpPr>
          <p:cNvPr id="20" name="Text 17"/>
          <p:cNvSpPr/>
          <p:nvPr/>
        </p:nvSpPr>
        <p:spPr>
          <a:xfrm>
            <a:off x="8065008" y="1920240"/>
            <a:ext cx="3209544" cy="274320"/>
          </a:xfrm>
          <a:prstGeom prst="rect">
            <a:avLst/>
          </a:prstGeom>
          <a:noFill/>
          <a:ln/>
        </p:spPr>
        <p:txBody>
          <a:bodyPr wrap="square" rtlCol="0" anchor="ctr"/>
          <a:lstStyle/>
          <a:p>
            <a:pPr algn="ctr" indent="0" marL="0">
              <a:buNone/>
            </a:pPr>
            <a:r>
              <a:rPr lang="en-US" sz="1200" b="1" dirty="0">
                <a:solidFill>
                  <a:srgbClr val="111111"/>
                </a:solidFill>
                <a:latin typeface="Trebuchet MS" pitchFamily="34" charset="0"/>
                <a:ea typeface="Trebuchet MS" pitchFamily="34" charset="-122"/>
                <a:cs typeface="Trebuchet MS" pitchFamily="34" charset="-120"/>
              </a:rPr>
              <a:t>Step 3</a:t>
            </a:r>
            <a:endParaRPr lang="en-US" sz="1200" dirty="0"/>
          </a:p>
        </p:txBody>
      </p:sp>
      <p:sp>
        <p:nvSpPr>
          <p:cNvPr id="21" name="Text 18"/>
          <p:cNvSpPr/>
          <p:nvPr/>
        </p:nvSpPr>
        <p:spPr>
          <a:xfrm>
            <a:off x="8065008" y="2240280"/>
            <a:ext cx="3209544" cy="1143000"/>
          </a:xfrm>
          <a:prstGeom prst="rect">
            <a:avLst/>
          </a:prstGeom>
          <a:noFill/>
          <a:ln/>
        </p:spPr>
        <p:txBody>
          <a:bodyPr wrap="square" rtlCol="0" anchor="t"/>
          <a:lstStyle/>
          <a:p>
            <a:pPr algn="ctr" indent="0" marL="0">
              <a:buNone/>
            </a:pPr>
            <a:r>
              <a:rPr lang="en-US" sz="1000" dirty="0">
                <a:solidFill>
                  <a:srgbClr val="EEEEEE"/>
                </a:solidFill>
                <a:latin typeface="Calibri" pitchFamily="34" charset="0"/>
                <a:ea typeface="Calibri" pitchFamily="34" charset="-122"/>
                <a:cs typeface="Calibri" pitchFamily="34" charset="-120"/>
              </a:rPr>
              <a:t>{"year":"Long-Term (15+ Years)","description":"Widespread adoption, transformative impact across industries, truly powerful Quantum AI."}</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731520" y="457200"/>
            <a:ext cx="10725912" cy="731520"/>
          </a:xfrm>
          <a:prstGeom prst="rect">
            <a:avLst/>
          </a:prstGeom>
          <a:noFill/>
          <a:ln/>
        </p:spPr>
        <p:txBody>
          <a:bodyPr wrap="square" rtlCol="0" anchor="ctr"/>
          <a:lstStyle/>
          <a:p>
            <a:pPr indent="0" marL="0">
              <a:buNone/>
            </a:pPr>
            <a:r>
              <a:rPr lang="en-US" sz="2800" b="1" dirty="0">
                <a:solidFill>
                  <a:srgbClr val="111111"/>
                </a:solidFill>
                <a:latin typeface="Trebuchet MS" pitchFamily="34" charset="0"/>
                <a:ea typeface="Trebuchet MS" pitchFamily="34" charset="-122"/>
                <a:cs typeface="Trebuchet MS" pitchFamily="34" charset="-120"/>
              </a:rPr>
              <a:t>Classical AI vs. Quantum AI</a:t>
            </a:r>
            <a:endParaRPr lang="en-US" sz="2800" dirty="0"/>
          </a:p>
        </p:txBody>
      </p:sp>
      <p:sp>
        <p:nvSpPr>
          <p:cNvPr id="4" name="Text 1"/>
          <p:cNvSpPr/>
          <p:nvPr/>
        </p:nvSpPr>
        <p:spPr>
          <a:xfrm>
            <a:off x="731520" y="228600"/>
            <a:ext cx="10725912" cy="274320"/>
          </a:xfrm>
          <a:prstGeom prst="rect">
            <a:avLst/>
          </a:prstGeom>
          <a:noFill/>
          <a:ln/>
        </p:spPr>
        <p:txBody>
          <a:bodyPr wrap="square" rtlCol="0" anchor="ctr"/>
          <a:lstStyle/>
          <a:p>
            <a:pPr indent="0" marL="0">
              <a:buNone/>
            </a:pPr>
            <a:r>
              <a:rPr lang="en-US" sz="1100" b="1" dirty="0">
                <a:solidFill>
                  <a:srgbClr val="E28413"/>
                </a:solidFill>
                <a:latin typeface="Calibri" pitchFamily="34" charset="0"/>
                <a:ea typeface="Calibri" pitchFamily="34" charset="-122"/>
                <a:cs typeface="Calibri" pitchFamily="34" charset="-120"/>
              </a:rPr>
              <a:t>KEY DIFFERENCES</a:t>
            </a:r>
            <a:endParaRPr lang="en-US" sz="1100" dirty="0"/>
          </a:p>
        </p:txBody>
      </p:sp>
      <p:sp>
        <p:nvSpPr>
          <p:cNvPr id="5" name="Shape 2"/>
          <p:cNvSpPr/>
          <p:nvPr/>
        </p:nvSpPr>
        <p:spPr>
          <a:xfrm>
            <a:off x="731520" y="1188720"/>
            <a:ext cx="10725912" cy="9144"/>
          </a:xfrm>
          <a:prstGeom prst="line">
            <a:avLst/>
          </a:prstGeom>
          <a:noFill/>
          <a:ln w="12700">
            <a:solidFill>
              <a:srgbClr val="333333"/>
            </a:solidFill>
            <a:prstDash val="solid"/>
          </a:ln>
        </p:spPr>
      </p:sp>
      <p:sp>
        <p:nvSpPr>
          <p:cNvPr id="6" name="Shape 3"/>
          <p:cNvSpPr/>
          <p:nvPr/>
        </p:nvSpPr>
        <p:spPr>
          <a:xfrm>
            <a:off x="731520" y="1645920"/>
            <a:ext cx="5029200" cy="4389120"/>
          </a:xfrm>
          <a:prstGeom prst="rect">
            <a:avLst/>
          </a:prstGeom>
          <a:solidFill>
            <a:srgbClr val="FFFFFF"/>
          </a:solidFill>
          <a:ln w="12700">
            <a:solidFill>
              <a:srgbClr val="333333"/>
            </a:solidFill>
            <a:prstDash val="solid"/>
          </a:ln>
        </p:spPr>
      </p:sp>
      <p:sp>
        <p:nvSpPr>
          <p:cNvPr id="7" name="Text 4"/>
          <p:cNvSpPr/>
          <p:nvPr/>
        </p:nvSpPr>
        <p:spPr>
          <a:xfrm>
            <a:off x="914400" y="1828800"/>
            <a:ext cx="4663440" cy="4023360"/>
          </a:xfrm>
          <a:prstGeom prst="rect">
            <a:avLst/>
          </a:prstGeom>
          <a:noFill/>
          <a:ln/>
        </p:spPr>
        <p:txBody>
          <a:bodyPr wrap="square" rtlCol="0" anchor="t"/>
          <a:lstStyle/>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{"feature":"Computation Unit","classical":"Bit (0 or 1)","quantum":"Qubit (0, 1, or superposition)"}</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{"feature":"Processing Power","classical":"Linear scaling","quantum":"Exponential scaling (potential)"}</a:t>
            </a:r>
            <a:endParaRPr lang="en-US" sz="1500" dirty="0"/>
          </a:p>
        </p:txBody>
      </p:sp>
      <p:sp>
        <p:nvSpPr>
          <p:cNvPr id="8" name="Shape 5"/>
          <p:cNvSpPr/>
          <p:nvPr/>
        </p:nvSpPr>
        <p:spPr>
          <a:xfrm>
            <a:off x="6400800" y="1645920"/>
            <a:ext cx="5029200" cy="4389120"/>
          </a:xfrm>
          <a:prstGeom prst="rect">
            <a:avLst/>
          </a:prstGeom>
          <a:solidFill>
            <a:srgbClr val="FFFFFF"/>
          </a:solidFill>
          <a:ln w="12700">
            <a:solidFill>
              <a:srgbClr val="E28413"/>
            </a:solidFill>
            <a:prstDash val="solid"/>
          </a:ln>
        </p:spPr>
      </p:sp>
      <p:sp>
        <p:nvSpPr>
          <p:cNvPr id="9" name="Text 6"/>
          <p:cNvSpPr/>
          <p:nvPr/>
        </p:nvSpPr>
        <p:spPr>
          <a:xfrm>
            <a:off x="6583680" y="1828800"/>
            <a:ext cx="4663440" cy="4023360"/>
          </a:xfrm>
          <a:prstGeom prst="rect">
            <a:avLst/>
          </a:prstGeom>
          <a:noFill/>
          <a:ln/>
        </p:spPr>
        <p:txBody>
          <a:bodyPr wrap="square" rtlCol="0" anchor="t"/>
          <a:lstStyle/>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{"feature":"Problem Types","classical":"Well-defined, large data","quantum":"Complex optimization, simulation, search"}</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{"feature":"Current Maturity","classical":"Mature, widely adopted","quantum":"Nascent, research-focused"}</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731520" y="457200"/>
            <a:ext cx="10725912" cy="731520"/>
          </a:xfrm>
          <a:prstGeom prst="rect">
            <a:avLst/>
          </a:prstGeom>
          <a:noFill/>
          <a:ln/>
        </p:spPr>
        <p:txBody>
          <a:bodyPr wrap="square" rtlCol="0" anchor="ctr"/>
          <a:lstStyle/>
          <a:p>
            <a:pPr indent="0" marL="0">
              <a:buNone/>
            </a:pPr>
            <a:r>
              <a:rPr lang="en-US" sz="2800" b="1" dirty="0">
                <a:solidFill>
                  <a:srgbClr val="111111"/>
                </a:solidFill>
                <a:latin typeface="Trebuchet MS" pitchFamily="34" charset="0"/>
                <a:ea typeface="Trebuchet MS" pitchFamily="34" charset="-122"/>
                <a:cs typeface="Trebuchet MS" pitchFamily="34" charset="-120"/>
              </a:rPr>
              <a:t>The Role of AI in Quantum Development</a:t>
            </a:r>
            <a:endParaRPr lang="en-US" sz="2800" dirty="0"/>
          </a:p>
        </p:txBody>
      </p:sp>
      <p:sp>
        <p:nvSpPr>
          <p:cNvPr id="4" name="Text 1"/>
          <p:cNvSpPr/>
          <p:nvPr/>
        </p:nvSpPr>
        <p:spPr>
          <a:xfrm>
            <a:off x="731520" y="228600"/>
            <a:ext cx="10725912" cy="274320"/>
          </a:xfrm>
          <a:prstGeom prst="rect">
            <a:avLst/>
          </a:prstGeom>
          <a:noFill/>
          <a:ln/>
        </p:spPr>
        <p:txBody>
          <a:bodyPr wrap="square" rtlCol="0" anchor="ctr"/>
          <a:lstStyle/>
          <a:p>
            <a:pPr indent="0" marL="0">
              <a:buNone/>
            </a:pPr>
            <a:r>
              <a:rPr lang="en-US" sz="1100" b="1" dirty="0">
                <a:solidFill>
                  <a:srgbClr val="E28413"/>
                </a:solidFill>
                <a:latin typeface="Calibri" pitchFamily="34" charset="0"/>
                <a:ea typeface="Calibri" pitchFamily="34" charset="-122"/>
                <a:cs typeface="Calibri" pitchFamily="34" charset="-120"/>
              </a:rPr>
              <a:t>A SYMBIOTIC RELATIONSHIP</a:t>
            </a:r>
            <a:endParaRPr lang="en-US" sz="1100" dirty="0"/>
          </a:p>
        </p:txBody>
      </p:sp>
      <p:sp>
        <p:nvSpPr>
          <p:cNvPr id="5" name="Shape 2"/>
          <p:cNvSpPr/>
          <p:nvPr/>
        </p:nvSpPr>
        <p:spPr>
          <a:xfrm>
            <a:off x="731520" y="1188720"/>
            <a:ext cx="10725912" cy="9144"/>
          </a:xfrm>
          <a:prstGeom prst="line">
            <a:avLst/>
          </a:prstGeom>
          <a:noFill/>
          <a:ln w="12700">
            <a:solidFill>
              <a:srgbClr val="333333"/>
            </a:solidFill>
            <a:prstDash val="solid"/>
          </a:ln>
        </p:spPr>
      </p:sp>
      <p:sp>
        <p:nvSpPr>
          <p:cNvPr id="6" name="Text 3"/>
          <p:cNvSpPr/>
          <p:nvPr/>
        </p:nvSpPr>
        <p:spPr>
          <a:xfrm>
            <a:off x="731520" y="1645920"/>
            <a:ext cx="10725912" cy="4389120"/>
          </a:xfrm>
          <a:prstGeom prst="rect">
            <a:avLst/>
          </a:prstGeom>
          <a:noFill/>
          <a:ln/>
        </p:spPr>
        <p:txBody>
          <a:bodyPr wrap="square" rtlCol="0" anchor="t"/>
          <a:lstStyle/>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Optimizing quantum circuit design.</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Improving error correction techniques.</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Automating quantum system calibration.</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Discovering new quantum algorithms.</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Enhancing quantum control strategies.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111"/>
        </a:solidFill>
      </p:bgPr>
    </p:bg>
    <p:spTree>
      <p:nvGrpSpPr>
        <p:cNvPr id="1" name=""/>
        <p:cNvGrpSpPr/>
        <p:nvPr/>
      </p:nvGrpSpPr>
      <p:grpSpPr>
        <a:xfrm>
          <a:off x="0" y="0"/>
          <a:ext cx="0" cy="0"/>
          <a:chOff x="0" y="0"/>
          <a:chExt cx="0" cy="0"/>
        </a:xfrm>
      </p:grpSpPr>
      <p:sp>
        <p:nvSpPr>
          <p:cNvPr id="3" name="Shape 0"/>
          <p:cNvSpPr/>
          <p:nvPr/>
        </p:nvSpPr>
        <p:spPr>
          <a:xfrm>
            <a:off x="457200" y="3200400"/>
            <a:ext cx="11274552" cy="45720"/>
          </a:xfrm>
          <a:prstGeom prst="rect">
            <a:avLst/>
          </a:prstGeom>
          <a:solidFill>
            <a:srgbClr val="E28413"/>
          </a:solidFill>
          <a:ln/>
        </p:spPr>
      </p:sp>
      <p:sp>
        <p:nvSpPr>
          <p:cNvPr id="4" name="Text 1"/>
          <p:cNvSpPr/>
          <p:nvPr/>
        </p:nvSpPr>
        <p:spPr>
          <a:xfrm>
            <a:off x="914400" y="1828800"/>
            <a:ext cx="10360152" cy="1097280"/>
          </a:xfrm>
          <a:prstGeom prst="rect">
            <a:avLst/>
          </a:prstGeom>
          <a:noFill/>
          <a:ln/>
        </p:spPr>
        <p:txBody>
          <a:bodyPr wrap="square" rtlCol="0" anchor="ctr"/>
          <a:lstStyle/>
          <a:p>
            <a:pPr algn="ctr" indent="0" marL="0">
              <a:buNone/>
            </a:pPr>
            <a:r>
              <a:rPr lang="en-US" sz="4000" b="1" dirty="0">
                <a:solidFill>
                  <a:srgbClr val="FFFFFF"/>
                </a:solidFill>
                <a:latin typeface="Trebuchet MS" pitchFamily="34" charset="0"/>
                <a:ea typeface="Trebuchet MS" pitchFamily="34" charset="-122"/>
                <a:cs typeface="Trebuchet MS" pitchFamily="34" charset="-120"/>
              </a:rPr>
              <a:t>The Future is Quantum</a:t>
            </a:r>
            <a:endParaRPr lang="en-US" sz="4000" dirty="0"/>
          </a:p>
        </p:txBody>
      </p:sp>
      <p:sp>
        <p:nvSpPr>
          <p:cNvPr id="5" name="Text 2"/>
          <p:cNvSpPr/>
          <p:nvPr/>
        </p:nvSpPr>
        <p:spPr>
          <a:xfrm>
            <a:off x="1828800" y="3474720"/>
            <a:ext cx="8531352" cy="2286000"/>
          </a:xfrm>
          <a:prstGeom prst="rect">
            <a:avLst/>
          </a:prstGeom>
          <a:noFill/>
          <a:ln/>
        </p:spPr>
        <p:txBody>
          <a:bodyPr wrap="square" rtlCol="0" anchor="ctr"/>
          <a:lstStyle/>
          <a:p>
            <a:pPr algn="ctr" marL="342900" indent="-342900">
              <a:buSzPct val="100000"/>
              <a:buChar char="•"/>
            </a:pPr>
            <a:r>
              <a:rPr lang="en-US" sz="1800" dirty="0">
                <a:solidFill>
                  <a:srgbClr val="FFFFFF"/>
                </a:solidFill>
                <a:latin typeface="Calibri" pitchFamily="34" charset="0"/>
                <a:ea typeface="Calibri" pitchFamily="34" charset="-122"/>
                <a:cs typeface="Calibri" pitchFamily="34" charset="-120"/>
              </a:rPr>
              <a:t>Quantum AI promises revolutionary advancements.</a:t>
            </a:r>
            <a:endParaRPr lang="en-US" sz="1800" dirty="0"/>
          </a:p>
          <a:p>
            <a:pPr algn="ctr" marL="342900" indent="-342900">
              <a:buSzPct val="100000"/>
              <a:buChar char="•"/>
            </a:pPr>
            <a:r>
              <a:rPr lang="en-US" sz="1800" dirty="0">
                <a:solidFill>
                  <a:srgbClr val="FFFFFF"/>
                </a:solidFill>
                <a:latin typeface="Calibri" pitchFamily="34" charset="0"/>
                <a:ea typeface="Calibri" pitchFamily="34" charset="-122"/>
                <a:cs typeface="Calibri" pitchFamily="34" charset="-120"/>
              </a:rPr>
              <a:t>Requires continued research and investment.</a:t>
            </a:r>
            <a:endParaRPr lang="en-US" sz="1800" dirty="0"/>
          </a:p>
          <a:p>
            <a:pPr algn="ctr" marL="342900" indent="-342900">
              <a:buSzPct val="100000"/>
              <a:buChar char="•"/>
            </a:pPr>
            <a:r>
              <a:rPr lang="en-US" sz="1800" dirty="0">
                <a:solidFill>
                  <a:srgbClr val="FFFFFF"/>
                </a:solidFill>
                <a:latin typeface="Calibri" pitchFamily="34" charset="0"/>
                <a:ea typeface="Calibri" pitchFamily="34" charset="-122"/>
                <a:cs typeface="Calibri" pitchFamily="34" charset="-120"/>
              </a:rPr>
              <a:t>Challenges are significant but surmountable.</a:t>
            </a:r>
            <a:endParaRPr lang="en-US" sz="1800" dirty="0"/>
          </a:p>
          <a:p>
            <a:pPr algn="ctr" marL="342900" indent="-342900">
              <a:buSzPct val="100000"/>
              <a:buChar char="•"/>
            </a:pPr>
            <a:r>
              <a:rPr lang="en-US" sz="1800" dirty="0">
                <a:solidFill>
                  <a:srgbClr val="FFFFFF"/>
                </a:solidFill>
                <a:latin typeface="Calibri" pitchFamily="34" charset="0"/>
                <a:ea typeface="Calibri" pitchFamily="34" charset="-122"/>
                <a:cs typeface="Calibri" pitchFamily="34" charset="-120"/>
              </a:rPr>
              <a:t>Potential impact on science, industry, and society.</a:t>
            </a:r>
            <a:endParaRPr lang="en-US" sz="1800" dirty="0"/>
          </a:p>
          <a:p>
            <a:pPr algn="ctr" marL="342900" indent="-342900">
              <a:buSzPct val="100000"/>
              <a:buChar char="•"/>
            </a:pPr>
            <a:r>
              <a:rPr lang="en-US" sz="1800" dirty="0">
                <a:solidFill>
                  <a:srgbClr val="FFFFFF"/>
                </a:solidFill>
                <a:latin typeface="Calibri" pitchFamily="34" charset="0"/>
                <a:ea typeface="Calibri" pitchFamily="34" charset="-122"/>
                <a:cs typeface="Calibri" pitchFamily="34" charset="-120"/>
              </a:rPr>
              <a:t>The journey has just begun.</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111"/>
        </a:solidFill>
      </p:bgPr>
    </p:bg>
    <p:spTree>
      <p:nvGrpSpPr>
        <p:cNvPr id="1" name=""/>
        <p:cNvGrpSpPr/>
        <p:nvPr/>
      </p:nvGrpSpPr>
      <p:grpSpPr>
        <a:xfrm>
          <a:off x="0" y="0"/>
          <a:ext cx="0" cy="0"/>
          <a:chOff x="0" y="0"/>
          <a:chExt cx="0" cy="0"/>
        </a:xfrm>
      </p:grpSpPr>
      <p:sp>
        <p:nvSpPr>
          <p:cNvPr id="3" name="Shape 0"/>
          <p:cNvSpPr/>
          <p:nvPr/>
        </p:nvSpPr>
        <p:spPr>
          <a:xfrm>
            <a:off x="457200" y="3200400"/>
            <a:ext cx="11274552" cy="45720"/>
          </a:xfrm>
          <a:prstGeom prst="rect">
            <a:avLst/>
          </a:prstGeom>
          <a:solidFill>
            <a:srgbClr val="E28413"/>
          </a:solidFill>
          <a:ln/>
        </p:spPr>
      </p:sp>
      <p:sp>
        <p:nvSpPr>
          <p:cNvPr id="4" name="Text 1"/>
          <p:cNvSpPr/>
          <p:nvPr/>
        </p:nvSpPr>
        <p:spPr>
          <a:xfrm>
            <a:off x="914400" y="1645920"/>
            <a:ext cx="10360152" cy="1371600"/>
          </a:xfrm>
          <a:prstGeom prst="rect">
            <a:avLst/>
          </a:prstGeom>
          <a:noFill/>
          <a:ln/>
        </p:spPr>
        <p:txBody>
          <a:bodyPr wrap="square" rtlCol="0" anchor="ctr"/>
          <a:lstStyle/>
          <a:p>
            <a:pPr algn="ctr" indent="0" marL="0">
              <a:buNone/>
            </a:pPr>
            <a:r>
              <a:rPr lang="en-US" sz="4400" b="1" dirty="0">
                <a:solidFill>
                  <a:srgbClr val="FFFFFF"/>
                </a:solidFill>
                <a:latin typeface="Trebuchet MS" pitchFamily="34" charset="0"/>
                <a:ea typeface="Trebuchet MS" pitchFamily="34" charset="-122"/>
                <a:cs typeface="Trebuchet MS" pitchFamily="34" charset="-120"/>
              </a:rPr>
              <a:t>Thank You &amp; Questions</a:t>
            </a:r>
            <a:endParaRPr lang="en-US" sz="4400" dirty="0"/>
          </a:p>
        </p:txBody>
      </p:sp>
      <p:sp>
        <p:nvSpPr>
          <p:cNvPr id="5" name="Text 2"/>
          <p:cNvSpPr/>
          <p:nvPr/>
        </p:nvSpPr>
        <p:spPr>
          <a:xfrm>
            <a:off x="914400" y="3474720"/>
            <a:ext cx="10360152" cy="731520"/>
          </a:xfrm>
          <a:prstGeom prst="rect">
            <a:avLst/>
          </a:prstGeom>
          <a:noFill/>
          <a:ln/>
        </p:spPr>
        <p:txBody>
          <a:bodyPr wrap="square" rtlCol="0" anchor="ctr"/>
          <a:lstStyle/>
          <a:p>
            <a:pPr algn="ctr" indent="0" marL="0">
              <a:buNone/>
            </a:pPr>
            <a:r>
              <a:rPr lang="en-US" sz="2200" dirty="0">
                <a:solidFill>
                  <a:srgbClr val="E28413"/>
                </a:solidFill>
                <a:latin typeface="Calibri" pitchFamily="34" charset="0"/>
                <a:ea typeface="Calibri" pitchFamily="34" charset="-122"/>
                <a:cs typeface="Calibri" pitchFamily="34" charset="-120"/>
              </a:rPr>
              <a:t>Connect and Explore Further</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2026-06-04T09:59:33Z</dcterms:created>
  <dcterms:modified xsi:type="dcterms:W3CDTF">2026-06-04T09:59:33Z</dcterms:modified>
</cp:coreProperties>
</file>