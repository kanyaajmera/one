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Potential Speedups in AI Tasks</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Sheet1!$A$2:$A$5</c:f>
              <c:multiLvlStrCache>
                <c:ptCount val="4"/>
                <c:lvl>
                  <c:pt idx="0">
                    <c:v>Category A</c:v>
                  </c:pt>
                  <c:pt idx="1">
                    <c:v>Category B</c:v>
                  </c:pt>
                  <c:pt idx="2">
                    <c:v>Category C</c:v>
                  </c:pt>
                  <c:pt idx="3">
                    <c:v>Category D</c:v>
                  </c:pt>
                </c:lvl>
              </c:multiLvlStrCache>
            </c:multiLvlStrRef>
          </c:cat>
          <c:val>
            <c:numRef>
              <c:f>Sheet1!$B$2:$B$5</c:f>
              <c:numCache>
                <c:formatCode>General</c:formatCode>
                <c:ptCount val="4"/>
                <c:pt idx="0">
                  <c:v>30</c:v>
                </c:pt>
                <c:pt idx="1">
                  <c:v>50</c:v>
                </c:pt>
                <c:pt idx="2">
                  <c:v>20</c:v>
                </c:pt>
                <c:pt idx="3">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will explore the exciting and rapidly developing field of Quantum Artificial Intelligence, or QAI. This presentation will cover the fundamental concepts, current advancements, and future potential of merging quantum computing with artificial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QAI, let's briefly define AI. AI refers to systems that can perform tasks typically requiring human intelligence, such as learning from experience, solving complex problems, and making informed decisions. We'll touch upon its core components like ML, DL, and NLP.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quantum computing. Unlike classical computers that use bits (0 or 1), quantum computers use qubits. Qubits can represent 0, 1, or both simultaneously through superposition, and can be linked via entanglement. This allows for solving certain problems vastly faster than classical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fundamental differences. Classical computers are deterministic and process information sequentially using bits. Quantum computers, leveraging qubits, can explore multiple states simultaneously, offering potential for massively parallel computation and tackling problems of extreme complexity, though they introduce new challenges like quantum error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Artificial Intelligence, or QAI, is the exciting intersection of these two fields. It aims to use quantum computers to accelerate and improve AI tasks, and conversely, use AI to help design and optimize quantum computers. This synergy promises to unlock unprecedented computational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QAI offers several key advantages. Quantum computers can significantly speed up computationally intensive AI tasks. Their ability to explore vast possibility spaces helps in discovering subtle patterns and correlations that classical AI might miss. This leads to more powerful and efficient machine learning models, especially for optimization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Machine Learning, or QML, is a primary focus within QAI. It involves rewriting machine learning algorithms to run on quantum computers or developing entirely new quantum-native learning algorithms. The goal is to leverage quantum effects for faster and potentially more powerful learning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illustrates the potential speedups QAI could offer across various AI tasks. Notice the exponential advantage predicted for certain complex problems, such as large-scale optimization or simulating molecular interactions, compared to classical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potential applications of QAI are vast and span across numerous industries. From accelerating the discovery of life-saving drugs to revolutionizing financial modeling and optimizing global supply chains, QAI promises to be a major disruptive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of QAI began with theoretical research and algorithmic development in the 2010s. We are currently in the era of Noisy Intermediate-Scale Quantum (NISQ) devices, seeing early QML experiments. The coming years will focus on developing robust platforms and specialized applications, with widespread integration anticipated after the advent of fault-tolerant quantum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immense potential, significant challenges remain. Current quantum hardware is noisy and limited in scale. Developing quantum algorithms is complex, and we need robust error correction. Furthermore, there's a shortage of quantum computing expertise, and the initial costs can be substantial.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crucial for AI, and QAI introduces new ways to handle it. Quantum computers can potentially represent and process vast amounts of data more efficiently. Techniques like quantum feature maps allow for mapping classical data into quantum states, potentially unlocking richer insights, especially for complex, high-dimensional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note that QAI won't replace classical AI for all tasks. QAI is expected to excel in specific areas, particularly those involving complex optimization, intricate pattern recognition in high-dimensional data, and tasks that naturally benefit from quantum phenomena, like sampling and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advance in QAI, ethical considerations become paramount. We must be mindful of potential bias amplification, the dual-use nature of quantum cryptography, ensuring equitable access to these powerful tools, and addressing potential societal impacts like job displacement. Robust governance frameworks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future of QAI is incredibly promising. We anticipate rapid improvements in quantum hardware, refinement of quantum algorithms, and the rise of hybrid approaches that combine the strengths of both classical and quantum computing. QAI is poised to move from niche research to mainstream integration, potentially leading to discoveries we can't even imagine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Quantum Artificial Intelligence represents a significant leap forward in computational power. By harnessing quantum mechanics, QAI promises to revolutionize AI, enabling us to tackle previously insurmountable problems across science and industry. While challenges exist, the trajectory points towards a future where QAI plays a pivotal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D9B310"/>
          </a:solidFill>
          <a:ln/>
        </p:spPr>
      </p:sp>
      <p:sp>
        <p:nvSpPr>
          <p:cNvPr id="4" name="Text 1"/>
          <p:cNvSpPr/>
          <p:nvPr/>
        </p:nvSpPr>
        <p:spPr>
          <a:xfrm>
            <a:off x="914400" y="1645920"/>
            <a:ext cx="10360152" cy="137160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The Rise of Quantum Artificial Intelligence</a:t>
            </a:r>
            <a:endParaRPr lang="en-US" sz="4400" dirty="0"/>
          </a:p>
        </p:txBody>
      </p:sp>
      <p:sp>
        <p:nvSpPr>
          <p:cNvPr id="5" name="Text 2"/>
          <p:cNvSpPr/>
          <p:nvPr/>
        </p:nvSpPr>
        <p:spPr>
          <a:xfrm>
            <a:off x="914400" y="3474720"/>
            <a:ext cx="10360152" cy="731520"/>
          </a:xfrm>
          <a:prstGeom prst="rect">
            <a:avLst/>
          </a:prstGeom>
          <a:noFill/>
          <a:ln/>
        </p:spPr>
        <p:txBody>
          <a:bodyPr wrap="square" rtlCol="0" anchor="ctr"/>
          <a:lstStyle/>
          <a:p>
            <a:pPr algn="ctr" indent="0" marL="0">
              <a:buNone/>
            </a:pPr>
            <a:r>
              <a:rPr lang="en-US" sz="2200" dirty="0">
                <a:solidFill>
                  <a:srgbClr val="D9B310"/>
                </a:solidFill>
                <a:latin typeface="Calibri" pitchFamily="34" charset="0"/>
                <a:ea typeface="Calibri" pitchFamily="34" charset="-122"/>
                <a:cs typeface="Calibri" pitchFamily="34" charset="-120"/>
              </a:rPr>
              <a:t>Harnessing the Power of Two Transformative Technologies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What is Artificial Intelligence?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A BRIEF OVERVIEW</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Machines mimicking human intelligence.</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Learning, problem-solving, decision-making.</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Key areas: Machine Learning, Deep Learning, NLP.</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Driving innovation across industries.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What is Quantum Computing?</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A NEW PARADIGM OF COMPUTATION</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Leverages quantum mechanics principles.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Uses qubits instead of bits.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Enables superposition and entanglement.</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Potential for exponential speedups.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Classical vs. Quantum Computation</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KEY DIFFERENCES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Shape 3"/>
          <p:cNvSpPr/>
          <p:nvPr/>
        </p:nvSpPr>
        <p:spPr>
          <a:xfrm>
            <a:off x="731520" y="1645920"/>
            <a:ext cx="5029200" cy="4389120"/>
          </a:xfrm>
          <a:prstGeom prst="rect">
            <a:avLst/>
          </a:prstGeom>
          <a:solidFill>
            <a:srgbClr val="FFFFFF"/>
          </a:solidFill>
          <a:ln w="12700">
            <a:solidFill>
              <a:srgbClr val="328CC1"/>
            </a:solidFill>
            <a:prstDash val="solid"/>
          </a:ln>
        </p:spPr>
      </p:sp>
      <p:sp>
        <p:nvSpPr>
          <p:cNvPr id="7" name="Text 4"/>
          <p:cNvSpPr/>
          <p:nvPr/>
        </p:nvSpPr>
        <p:spPr>
          <a:xfrm>
            <a:off x="91440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Bits vs. Qubits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Sequential vs. Parallel processing</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Deterministic vs. Probabilistic states</a:t>
            </a:r>
            <a:endParaRPr lang="en-US" sz="1500" dirty="0"/>
          </a:p>
        </p:txBody>
      </p:sp>
      <p:sp>
        <p:nvSpPr>
          <p:cNvPr id="8" name="Shape 5"/>
          <p:cNvSpPr/>
          <p:nvPr/>
        </p:nvSpPr>
        <p:spPr>
          <a:xfrm>
            <a:off x="6400800" y="1645920"/>
            <a:ext cx="5029200" cy="4389120"/>
          </a:xfrm>
          <a:prstGeom prst="rect">
            <a:avLst/>
          </a:prstGeom>
          <a:solidFill>
            <a:srgbClr val="FFFFFF"/>
          </a:solidFill>
          <a:ln w="12700">
            <a:solidFill>
              <a:srgbClr val="D9B310"/>
            </a:solidFill>
            <a:prstDash val="solid"/>
          </a:ln>
        </p:spPr>
      </p:sp>
      <p:sp>
        <p:nvSpPr>
          <p:cNvPr id="9" name="Text 6"/>
          <p:cNvSpPr/>
          <p:nvPr/>
        </p:nvSpPr>
        <p:spPr>
          <a:xfrm>
            <a:off x="658368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Limited complexity vs. Exponential scaling</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Error-prone vs. Novel error correction needs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Introducing Quantum AI (QAI)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THE SYNERGY OF TWO WORLDS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Merging quantum computing with AI algorithms.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Enhancing AI's learning capabilities.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Solving problems intractable for classical AI.</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Opening new frontiers in computation.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How Quantum Enhances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KEY ADVANTAGES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{"column1":"Faster Algorithm Execution","column2":"Quantum algorithms can process data exponentially faster."}</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{"column1":"Improved Pattern Recognition","column2":"Quantum properties aid in finding complex patterns."}</a:t>
            </a:r>
            <a:endParaRPr lang="en-US" sz="1500" dirty="0"/>
          </a:p>
        </p:txBody>
      </p:sp>
      <p:sp>
        <p:nvSpPr>
          <p:cNvPr id="7" name="Text 4"/>
          <p:cNvSpPr/>
          <p:nvPr/>
        </p:nvSpPr>
        <p:spPr>
          <a:xfrm>
            <a:off x="640080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{"column1":"Enhanced Machine Learning Models","column2":"Quantum ML models may learn with less data."}</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{"column1":"Optimization Problems","column2":"Solving complex optimization tasks efficiently."}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Quantum Machine Learning (QML)</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THE CORE OF QAI</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Adapting ML algorithms for quantum hardware.</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Utilizing quantum phenomena for learning.</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Examples: Quantum SVMs, Quantum Neural Networks.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Potential for reduced training times.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Exploring new types of data analysis.</a:t>
            </a:r>
            <a:endParaRPr lang="en-US" sz="1500" dirty="0"/>
          </a:p>
        </p:txBody>
      </p:sp>
      <p:sp>
        <p:nvSpPr>
          <p:cNvPr id="7" name="Shape 4"/>
          <p:cNvSpPr/>
          <p:nvPr/>
        </p:nvSpPr>
        <p:spPr>
          <a:xfrm>
            <a:off x="6675120" y="1645920"/>
            <a:ext cx="4754880" cy="4389120"/>
          </a:xfrm>
          <a:prstGeom prst="rect">
            <a:avLst/>
          </a:prstGeom>
          <a:solidFill>
            <a:srgbClr val="EDEDED"/>
          </a:solidFill>
          <a:ln w="19050">
            <a:solidFill>
              <a:srgbClr val="328CC1"/>
            </a:solidFill>
            <a:prstDash val="solid"/>
          </a:ln>
        </p:spPr>
      </p:sp>
      <p:sp>
        <p:nvSpPr>
          <p:cNvPr id="8" name="Text 5"/>
          <p:cNvSpPr/>
          <p:nvPr/>
        </p:nvSpPr>
        <p:spPr>
          <a:xfrm>
            <a:off x="6858000" y="2011680"/>
            <a:ext cx="4389120" cy="3657600"/>
          </a:xfrm>
          <a:prstGeom prst="rect">
            <a:avLst/>
          </a:prstGeom>
          <a:noFill/>
          <a:ln/>
        </p:spPr>
        <p:txBody>
          <a:bodyPr wrap="square" rtlCol="0" anchor="ctr"/>
          <a:lstStyle/>
          <a:p>
            <a:pPr algn="ctr" indent="0" marL="0">
              <a:buNone/>
            </a:pPr>
            <a:r>
              <a:rPr lang="en-US" sz="1300" i="1" dirty="0">
                <a:solidFill>
                  <a:srgbClr val="1D2731"/>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1D2731"/>
                </a:solidFill>
                <a:latin typeface="Calibri" pitchFamily="34" charset="0"/>
                <a:ea typeface="Calibri" pitchFamily="34" charset="-122"/>
                <a:cs typeface="Calibri" pitchFamily="34" charset="-120"/>
              </a:rPr>
              <a:t>"Image: A stylized neural network where the connections are represented by glowing quantum waves or circuits."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Potential Speedups in AI Tasks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ILLUSTRATIVE EXAMPLES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Data analysis and processing.</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Complex simulations for training.</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Optimization of AI model parameters.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Drug discovery and material science.</a:t>
            </a:r>
            <a:endParaRPr lang="en-US" sz="1500" dirty="0"/>
          </a:p>
        </p:txBody>
      </p:sp>
      <p:graphicFrame>
        <p:nvGraphicFramePr>
          <p:cNvPr id="7" name="Chart 0" descr=""/>
          <p:cNvGraphicFramePr/>
          <p:nvPr/>
        </p:nvGraphicFramePr>
        <p:xfrm>
          <a:off x="6400800" y="1645920"/>
          <a:ext cx="502920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Applications of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TRANSFORMING INDUSTRIES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Healthcare: Drug discovery, personalized medicine.</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Finance: Risk analysis, algorithmic trading.</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Materials Science: Designing new materials.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Logistics: Supply chain optimization.</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Cybersecurity: Enhanced encryption and detection.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Evolution of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KEY MILESTONES AND FUTURE OUTLOOK</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Shape 3"/>
          <p:cNvSpPr/>
          <p:nvPr/>
        </p:nvSpPr>
        <p:spPr>
          <a:xfrm>
            <a:off x="731520" y="3657600"/>
            <a:ext cx="10725912" cy="0"/>
          </a:xfrm>
          <a:prstGeom prst="line">
            <a:avLst/>
          </a:prstGeom>
          <a:noFill/>
          <a:ln w="38100">
            <a:solidFill>
              <a:srgbClr val="328CC1"/>
            </a:solidFill>
            <a:prstDash val="solid"/>
          </a:ln>
        </p:spPr>
      </p:sp>
      <p:sp>
        <p:nvSpPr>
          <p:cNvPr id="7" name="Shape 4"/>
          <p:cNvSpPr/>
          <p:nvPr/>
        </p:nvSpPr>
        <p:spPr>
          <a:xfrm>
            <a:off x="1689811" y="3543300"/>
            <a:ext cx="228600" cy="228600"/>
          </a:xfrm>
          <a:prstGeom prst="ellipse">
            <a:avLst/>
          </a:prstGeom>
          <a:solidFill>
            <a:srgbClr val="D9B310"/>
          </a:solidFill>
          <a:ln/>
        </p:spPr>
      </p:sp>
      <p:sp>
        <p:nvSpPr>
          <p:cNvPr id="8" name="Shape 5"/>
          <p:cNvSpPr/>
          <p:nvPr/>
        </p:nvSpPr>
        <p:spPr>
          <a:xfrm>
            <a:off x="1804111" y="3200400"/>
            <a:ext cx="0" cy="457200"/>
          </a:xfrm>
          <a:prstGeom prst="line">
            <a:avLst/>
          </a:prstGeom>
          <a:noFill/>
          <a:ln w="12700">
            <a:solidFill>
              <a:srgbClr val="D9B310"/>
            </a:solidFill>
            <a:prstDash val="dash"/>
          </a:ln>
        </p:spPr>
      </p:sp>
      <p:sp>
        <p:nvSpPr>
          <p:cNvPr id="9" name="Shape 6"/>
          <p:cNvSpPr/>
          <p:nvPr/>
        </p:nvSpPr>
        <p:spPr>
          <a:xfrm>
            <a:off x="868680" y="1828800"/>
            <a:ext cx="1870862" cy="1645920"/>
          </a:xfrm>
          <a:prstGeom prst="rect">
            <a:avLst/>
          </a:prstGeom>
          <a:solidFill>
            <a:srgbClr val="FFFFFF"/>
          </a:solidFill>
          <a:ln w="12700">
            <a:solidFill>
              <a:srgbClr val="328CC1"/>
            </a:solidFill>
            <a:prstDash val="solid"/>
          </a:ln>
        </p:spPr>
      </p:sp>
      <p:sp>
        <p:nvSpPr>
          <p:cNvPr id="10" name="Text 7"/>
          <p:cNvSpPr/>
          <p:nvPr/>
        </p:nvSpPr>
        <p:spPr>
          <a:xfrm>
            <a:off x="914400" y="1920240"/>
            <a:ext cx="1779422" cy="274320"/>
          </a:xfrm>
          <a:prstGeom prst="rect">
            <a:avLst/>
          </a:prstGeom>
          <a:noFill/>
          <a:ln/>
        </p:spPr>
        <p:txBody>
          <a:bodyPr wrap="square" rtlCol="0" anchor="ctr"/>
          <a:lstStyle/>
          <a:p>
            <a:pPr algn="ctr" indent="0" marL="0">
              <a:buNone/>
            </a:pPr>
            <a:r>
              <a:rPr lang="en-US" sz="1200" b="1" dirty="0">
                <a:solidFill>
                  <a:srgbClr val="0B3C5D"/>
                </a:solidFill>
                <a:latin typeface="Trebuchet MS" pitchFamily="34" charset="0"/>
                <a:ea typeface="Trebuchet MS" pitchFamily="34" charset="-122"/>
                <a:cs typeface="Trebuchet MS" pitchFamily="34" charset="-120"/>
              </a:rPr>
              <a:t>Step 1</a:t>
            </a:r>
            <a:endParaRPr lang="en-US" sz="1200" dirty="0"/>
          </a:p>
        </p:txBody>
      </p:sp>
      <p:sp>
        <p:nvSpPr>
          <p:cNvPr id="11" name="Text 8"/>
          <p:cNvSpPr/>
          <p:nvPr/>
        </p:nvSpPr>
        <p:spPr>
          <a:xfrm>
            <a:off x="914400" y="2240280"/>
            <a:ext cx="1779422" cy="1143000"/>
          </a:xfrm>
          <a:prstGeom prst="rect">
            <a:avLst/>
          </a:prstGeom>
          <a:noFill/>
          <a:ln/>
        </p:spPr>
        <p:txBody>
          <a:bodyPr wrap="square" rtlCol="0" anchor="t"/>
          <a:lstStyle/>
          <a:p>
            <a:pPr algn="ctr" indent="0" marL="0">
              <a:buNone/>
            </a:pPr>
            <a:r>
              <a:rPr lang="en-US" sz="1000" dirty="0">
                <a:solidFill>
                  <a:srgbClr val="1D2731"/>
                </a:solidFill>
                <a:latin typeface="Calibri" pitchFamily="34" charset="0"/>
                <a:ea typeface="Calibri" pitchFamily="34" charset="-122"/>
                <a:cs typeface="Calibri" pitchFamily="34" charset="-120"/>
              </a:rPr>
              <a:t>{"year":"2010s","event":"Foundational Research &amp; Early Algorithms"}</a:t>
            </a:r>
            <a:endParaRPr lang="en-US" sz="1000" dirty="0"/>
          </a:p>
        </p:txBody>
      </p:sp>
      <p:sp>
        <p:nvSpPr>
          <p:cNvPr id="12" name="Shape 9"/>
          <p:cNvSpPr/>
          <p:nvPr/>
        </p:nvSpPr>
        <p:spPr>
          <a:xfrm>
            <a:off x="3834994" y="3543300"/>
            <a:ext cx="228600" cy="228600"/>
          </a:xfrm>
          <a:prstGeom prst="ellipse">
            <a:avLst/>
          </a:prstGeom>
          <a:solidFill>
            <a:srgbClr val="D9B310"/>
          </a:solidFill>
          <a:ln/>
        </p:spPr>
      </p:sp>
      <p:sp>
        <p:nvSpPr>
          <p:cNvPr id="13" name="Shape 10"/>
          <p:cNvSpPr/>
          <p:nvPr/>
        </p:nvSpPr>
        <p:spPr>
          <a:xfrm>
            <a:off x="3949294" y="3657600"/>
            <a:ext cx="0" cy="457200"/>
          </a:xfrm>
          <a:prstGeom prst="line">
            <a:avLst/>
          </a:prstGeom>
          <a:noFill/>
          <a:ln w="12700">
            <a:solidFill>
              <a:srgbClr val="D9B310"/>
            </a:solidFill>
            <a:prstDash val="dash"/>
          </a:ln>
        </p:spPr>
      </p:sp>
      <p:sp>
        <p:nvSpPr>
          <p:cNvPr id="14" name="Shape 11"/>
          <p:cNvSpPr/>
          <p:nvPr/>
        </p:nvSpPr>
        <p:spPr>
          <a:xfrm>
            <a:off x="3013862" y="4023360"/>
            <a:ext cx="1870862" cy="1645920"/>
          </a:xfrm>
          <a:prstGeom prst="rect">
            <a:avLst/>
          </a:prstGeom>
          <a:solidFill>
            <a:srgbClr val="FFFFFF"/>
          </a:solidFill>
          <a:ln w="12700">
            <a:solidFill>
              <a:srgbClr val="328CC1"/>
            </a:solidFill>
            <a:prstDash val="solid"/>
          </a:ln>
        </p:spPr>
      </p:sp>
      <p:sp>
        <p:nvSpPr>
          <p:cNvPr id="15" name="Text 12"/>
          <p:cNvSpPr/>
          <p:nvPr/>
        </p:nvSpPr>
        <p:spPr>
          <a:xfrm>
            <a:off x="3059582" y="4114800"/>
            <a:ext cx="1779422" cy="274320"/>
          </a:xfrm>
          <a:prstGeom prst="rect">
            <a:avLst/>
          </a:prstGeom>
          <a:noFill/>
          <a:ln/>
        </p:spPr>
        <p:txBody>
          <a:bodyPr wrap="square" rtlCol="0" anchor="ctr"/>
          <a:lstStyle/>
          <a:p>
            <a:pPr algn="ctr" indent="0" marL="0">
              <a:buNone/>
            </a:pPr>
            <a:r>
              <a:rPr lang="en-US" sz="1200" b="1" dirty="0">
                <a:solidFill>
                  <a:srgbClr val="0B3C5D"/>
                </a:solidFill>
                <a:latin typeface="Trebuchet MS" pitchFamily="34" charset="0"/>
                <a:ea typeface="Trebuchet MS" pitchFamily="34" charset="-122"/>
                <a:cs typeface="Trebuchet MS" pitchFamily="34" charset="-120"/>
              </a:rPr>
              <a:t>Step 2</a:t>
            </a:r>
            <a:endParaRPr lang="en-US" sz="1200" dirty="0"/>
          </a:p>
        </p:txBody>
      </p:sp>
      <p:sp>
        <p:nvSpPr>
          <p:cNvPr id="16" name="Text 13"/>
          <p:cNvSpPr/>
          <p:nvPr/>
        </p:nvSpPr>
        <p:spPr>
          <a:xfrm>
            <a:off x="3059582" y="4434840"/>
            <a:ext cx="1779422" cy="1143000"/>
          </a:xfrm>
          <a:prstGeom prst="rect">
            <a:avLst/>
          </a:prstGeom>
          <a:noFill/>
          <a:ln/>
        </p:spPr>
        <p:txBody>
          <a:bodyPr wrap="square" rtlCol="0" anchor="t"/>
          <a:lstStyle/>
          <a:p>
            <a:pPr algn="ctr" indent="0" marL="0">
              <a:buNone/>
            </a:pPr>
            <a:r>
              <a:rPr lang="en-US" sz="1000" dirty="0">
                <a:solidFill>
                  <a:srgbClr val="1D2731"/>
                </a:solidFill>
                <a:latin typeface="Calibri" pitchFamily="34" charset="0"/>
                <a:ea typeface="Calibri" pitchFamily="34" charset="-122"/>
                <a:cs typeface="Calibri" pitchFamily="34" charset="-120"/>
              </a:rPr>
              <a:t>{"year":"Early 2020s","event":"NISQ era, Proof-of-concept QML"}</a:t>
            </a:r>
            <a:endParaRPr lang="en-US" sz="1000" dirty="0"/>
          </a:p>
        </p:txBody>
      </p:sp>
      <p:sp>
        <p:nvSpPr>
          <p:cNvPr id="17" name="Shape 14"/>
          <p:cNvSpPr/>
          <p:nvPr/>
        </p:nvSpPr>
        <p:spPr>
          <a:xfrm>
            <a:off x="5980176" y="3543300"/>
            <a:ext cx="228600" cy="228600"/>
          </a:xfrm>
          <a:prstGeom prst="ellipse">
            <a:avLst/>
          </a:prstGeom>
          <a:solidFill>
            <a:srgbClr val="D9B310"/>
          </a:solidFill>
          <a:ln/>
        </p:spPr>
      </p:sp>
      <p:sp>
        <p:nvSpPr>
          <p:cNvPr id="18" name="Shape 15"/>
          <p:cNvSpPr/>
          <p:nvPr/>
        </p:nvSpPr>
        <p:spPr>
          <a:xfrm>
            <a:off x="6094476" y="3200400"/>
            <a:ext cx="0" cy="457200"/>
          </a:xfrm>
          <a:prstGeom prst="line">
            <a:avLst/>
          </a:prstGeom>
          <a:noFill/>
          <a:ln w="12700">
            <a:solidFill>
              <a:srgbClr val="D9B310"/>
            </a:solidFill>
            <a:prstDash val="dash"/>
          </a:ln>
        </p:spPr>
      </p:sp>
      <p:sp>
        <p:nvSpPr>
          <p:cNvPr id="19" name="Shape 16"/>
          <p:cNvSpPr/>
          <p:nvPr/>
        </p:nvSpPr>
        <p:spPr>
          <a:xfrm>
            <a:off x="5159045" y="1828800"/>
            <a:ext cx="1870862" cy="1645920"/>
          </a:xfrm>
          <a:prstGeom prst="rect">
            <a:avLst/>
          </a:prstGeom>
          <a:solidFill>
            <a:srgbClr val="FFFFFF"/>
          </a:solidFill>
          <a:ln w="12700">
            <a:solidFill>
              <a:srgbClr val="328CC1"/>
            </a:solidFill>
            <a:prstDash val="solid"/>
          </a:ln>
        </p:spPr>
      </p:sp>
      <p:sp>
        <p:nvSpPr>
          <p:cNvPr id="20" name="Text 17"/>
          <p:cNvSpPr/>
          <p:nvPr/>
        </p:nvSpPr>
        <p:spPr>
          <a:xfrm>
            <a:off x="5204765" y="1920240"/>
            <a:ext cx="1779422" cy="274320"/>
          </a:xfrm>
          <a:prstGeom prst="rect">
            <a:avLst/>
          </a:prstGeom>
          <a:noFill/>
          <a:ln/>
        </p:spPr>
        <p:txBody>
          <a:bodyPr wrap="square" rtlCol="0" anchor="ctr"/>
          <a:lstStyle/>
          <a:p>
            <a:pPr algn="ctr" indent="0" marL="0">
              <a:buNone/>
            </a:pPr>
            <a:r>
              <a:rPr lang="en-US" sz="1200" b="1" dirty="0">
                <a:solidFill>
                  <a:srgbClr val="0B3C5D"/>
                </a:solidFill>
                <a:latin typeface="Trebuchet MS" pitchFamily="34" charset="0"/>
                <a:ea typeface="Trebuchet MS" pitchFamily="34" charset="-122"/>
                <a:cs typeface="Trebuchet MS" pitchFamily="34" charset="-120"/>
              </a:rPr>
              <a:t>Step 3</a:t>
            </a:r>
            <a:endParaRPr lang="en-US" sz="1200" dirty="0"/>
          </a:p>
        </p:txBody>
      </p:sp>
      <p:sp>
        <p:nvSpPr>
          <p:cNvPr id="21" name="Text 18"/>
          <p:cNvSpPr/>
          <p:nvPr/>
        </p:nvSpPr>
        <p:spPr>
          <a:xfrm>
            <a:off x="5204765" y="2240280"/>
            <a:ext cx="1779422" cy="1143000"/>
          </a:xfrm>
          <a:prstGeom prst="rect">
            <a:avLst/>
          </a:prstGeom>
          <a:noFill/>
          <a:ln/>
        </p:spPr>
        <p:txBody>
          <a:bodyPr wrap="square" rtlCol="0" anchor="t"/>
          <a:lstStyle/>
          <a:p>
            <a:pPr algn="ctr" indent="0" marL="0">
              <a:buNone/>
            </a:pPr>
            <a:r>
              <a:rPr lang="en-US" sz="1000" dirty="0">
                <a:solidFill>
                  <a:srgbClr val="1D2731"/>
                </a:solidFill>
                <a:latin typeface="Calibri" pitchFamily="34" charset="0"/>
                <a:ea typeface="Calibri" pitchFamily="34" charset="-122"/>
                <a:cs typeface="Calibri" pitchFamily="34" charset="-120"/>
              </a:rPr>
              <a:t>{"year":"Mid-2020s","event":"Development of Quantum AI Platforms"}</a:t>
            </a:r>
            <a:endParaRPr lang="en-US" sz="1000" dirty="0"/>
          </a:p>
        </p:txBody>
      </p:sp>
      <p:sp>
        <p:nvSpPr>
          <p:cNvPr id="22" name="Shape 19"/>
          <p:cNvSpPr/>
          <p:nvPr/>
        </p:nvSpPr>
        <p:spPr>
          <a:xfrm>
            <a:off x="8125358" y="3543300"/>
            <a:ext cx="228600" cy="228600"/>
          </a:xfrm>
          <a:prstGeom prst="ellipse">
            <a:avLst/>
          </a:prstGeom>
          <a:solidFill>
            <a:srgbClr val="D9B310"/>
          </a:solidFill>
          <a:ln/>
        </p:spPr>
      </p:sp>
      <p:sp>
        <p:nvSpPr>
          <p:cNvPr id="23" name="Shape 20"/>
          <p:cNvSpPr/>
          <p:nvPr/>
        </p:nvSpPr>
        <p:spPr>
          <a:xfrm>
            <a:off x="8239658" y="3657600"/>
            <a:ext cx="0" cy="457200"/>
          </a:xfrm>
          <a:prstGeom prst="line">
            <a:avLst/>
          </a:prstGeom>
          <a:noFill/>
          <a:ln w="12700">
            <a:solidFill>
              <a:srgbClr val="D9B310"/>
            </a:solidFill>
            <a:prstDash val="dash"/>
          </a:ln>
        </p:spPr>
      </p:sp>
      <p:sp>
        <p:nvSpPr>
          <p:cNvPr id="24" name="Shape 21"/>
          <p:cNvSpPr/>
          <p:nvPr/>
        </p:nvSpPr>
        <p:spPr>
          <a:xfrm>
            <a:off x="7304227" y="4023360"/>
            <a:ext cx="1870862" cy="1645920"/>
          </a:xfrm>
          <a:prstGeom prst="rect">
            <a:avLst/>
          </a:prstGeom>
          <a:solidFill>
            <a:srgbClr val="FFFFFF"/>
          </a:solidFill>
          <a:ln w="12700">
            <a:solidFill>
              <a:srgbClr val="328CC1"/>
            </a:solidFill>
            <a:prstDash val="solid"/>
          </a:ln>
        </p:spPr>
      </p:sp>
      <p:sp>
        <p:nvSpPr>
          <p:cNvPr id="25" name="Text 22"/>
          <p:cNvSpPr/>
          <p:nvPr/>
        </p:nvSpPr>
        <p:spPr>
          <a:xfrm>
            <a:off x="7349947" y="4114800"/>
            <a:ext cx="1779422" cy="274320"/>
          </a:xfrm>
          <a:prstGeom prst="rect">
            <a:avLst/>
          </a:prstGeom>
          <a:noFill/>
          <a:ln/>
        </p:spPr>
        <p:txBody>
          <a:bodyPr wrap="square" rtlCol="0" anchor="ctr"/>
          <a:lstStyle/>
          <a:p>
            <a:pPr algn="ctr" indent="0" marL="0">
              <a:buNone/>
            </a:pPr>
            <a:r>
              <a:rPr lang="en-US" sz="1200" b="1" dirty="0">
                <a:solidFill>
                  <a:srgbClr val="0B3C5D"/>
                </a:solidFill>
                <a:latin typeface="Trebuchet MS" pitchFamily="34" charset="0"/>
                <a:ea typeface="Trebuchet MS" pitchFamily="34" charset="-122"/>
                <a:cs typeface="Trebuchet MS" pitchFamily="34" charset="-120"/>
              </a:rPr>
              <a:t>Step 4</a:t>
            </a:r>
            <a:endParaRPr lang="en-US" sz="1200" dirty="0"/>
          </a:p>
        </p:txBody>
      </p:sp>
      <p:sp>
        <p:nvSpPr>
          <p:cNvPr id="26" name="Text 23"/>
          <p:cNvSpPr/>
          <p:nvPr/>
        </p:nvSpPr>
        <p:spPr>
          <a:xfrm>
            <a:off x="7349947" y="4434840"/>
            <a:ext cx="1779422" cy="1143000"/>
          </a:xfrm>
          <a:prstGeom prst="rect">
            <a:avLst/>
          </a:prstGeom>
          <a:noFill/>
          <a:ln/>
        </p:spPr>
        <p:txBody>
          <a:bodyPr wrap="square" rtlCol="0" anchor="t"/>
          <a:lstStyle/>
          <a:p>
            <a:pPr algn="ctr" indent="0" marL="0">
              <a:buNone/>
            </a:pPr>
            <a:r>
              <a:rPr lang="en-US" sz="1000" dirty="0">
                <a:solidFill>
                  <a:srgbClr val="1D2731"/>
                </a:solidFill>
                <a:latin typeface="Calibri" pitchFamily="34" charset="0"/>
                <a:ea typeface="Calibri" pitchFamily="34" charset="-122"/>
                <a:cs typeface="Calibri" pitchFamily="34" charset="-120"/>
              </a:rPr>
              <a:t>{"year":"Late 2020s","event":"Wider adoption in specialized fields"}</a:t>
            </a:r>
            <a:endParaRPr lang="en-US" sz="1000" dirty="0"/>
          </a:p>
        </p:txBody>
      </p:sp>
      <p:sp>
        <p:nvSpPr>
          <p:cNvPr id="27" name="Shape 24"/>
          <p:cNvSpPr/>
          <p:nvPr/>
        </p:nvSpPr>
        <p:spPr>
          <a:xfrm>
            <a:off x="10270541" y="3543300"/>
            <a:ext cx="228600" cy="228600"/>
          </a:xfrm>
          <a:prstGeom prst="ellipse">
            <a:avLst/>
          </a:prstGeom>
          <a:solidFill>
            <a:srgbClr val="D9B310"/>
          </a:solidFill>
          <a:ln/>
        </p:spPr>
      </p:sp>
      <p:sp>
        <p:nvSpPr>
          <p:cNvPr id="28" name="Shape 25"/>
          <p:cNvSpPr/>
          <p:nvPr/>
        </p:nvSpPr>
        <p:spPr>
          <a:xfrm>
            <a:off x="10384841" y="3200400"/>
            <a:ext cx="0" cy="457200"/>
          </a:xfrm>
          <a:prstGeom prst="line">
            <a:avLst/>
          </a:prstGeom>
          <a:noFill/>
          <a:ln w="12700">
            <a:solidFill>
              <a:srgbClr val="D9B310"/>
            </a:solidFill>
            <a:prstDash val="dash"/>
          </a:ln>
        </p:spPr>
      </p:sp>
      <p:sp>
        <p:nvSpPr>
          <p:cNvPr id="29" name="Shape 26"/>
          <p:cNvSpPr/>
          <p:nvPr/>
        </p:nvSpPr>
        <p:spPr>
          <a:xfrm>
            <a:off x="9449410" y="1828800"/>
            <a:ext cx="1870862" cy="1645920"/>
          </a:xfrm>
          <a:prstGeom prst="rect">
            <a:avLst/>
          </a:prstGeom>
          <a:solidFill>
            <a:srgbClr val="FFFFFF"/>
          </a:solidFill>
          <a:ln w="12700">
            <a:solidFill>
              <a:srgbClr val="328CC1"/>
            </a:solidFill>
            <a:prstDash val="solid"/>
          </a:ln>
        </p:spPr>
      </p:sp>
      <p:sp>
        <p:nvSpPr>
          <p:cNvPr id="30" name="Text 27"/>
          <p:cNvSpPr/>
          <p:nvPr/>
        </p:nvSpPr>
        <p:spPr>
          <a:xfrm>
            <a:off x="9495130" y="1920240"/>
            <a:ext cx="1779422" cy="274320"/>
          </a:xfrm>
          <a:prstGeom prst="rect">
            <a:avLst/>
          </a:prstGeom>
          <a:noFill/>
          <a:ln/>
        </p:spPr>
        <p:txBody>
          <a:bodyPr wrap="square" rtlCol="0" anchor="ctr"/>
          <a:lstStyle/>
          <a:p>
            <a:pPr algn="ctr" indent="0" marL="0">
              <a:buNone/>
            </a:pPr>
            <a:r>
              <a:rPr lang="en-US" sz="1200" b="1" dirty="0">
                <a:solidFill>
                  <a:srgbClr val="0B3C5D"/>
                </a:solidFill>
                <a:latin typeface="Trebuchet MS" pitchFamily="34" charset="0"/>
                <a:ea typeface="Trebuchet MS" pitchFamily="34" charset="-122"/>
                <a:cs typeface="Trebuchet MS" pitchFamily="34" charset="-120"/>
              </a:rPr>
              <a:t>Step 5</a:t>
            </a:r>
            <a:endParaRPr lang="en-US" sz="1200" dirty="0"/>
          </a:p>
        </p:txBody>
      </p:sp>
      <p:sp>
        <p:nvSpPr>
          <p:cNvPr id="31" name="Text 28"/>
          <p:cNvSpPr/>
          <p:nvPr/>
        </p:nvSpPr>
        <p:spPr>
          <a:xfrm>
            <a:off x="9495130" y="2240280"/>
            <a:ext cx="1779422" cy="1143000"/>
          </a:xfrm>
          <a:prstGeom prst="rect">
            <a:avLst/>
          </a:prstGeom>
          <a:noFill/>
          <a:ln/>
        </p:spPr>
        <p:txBody>
          <a:bodyPr wrap="square" rtlCol="0" anchor="t"/>
          <a:lstStyle/>
          <a:p>
            <a:pPr algn="ctr" indent="0" marL="0">
              <a:buNone/>
            </a:pPr>
            <a:r>
              <a:rPr lang="en-US" sz="1000" dirty="0">
                <a:solidFill>
                  <a:srgbClr val="1D2731"/>
                </a:solidFill>
                <a:latin typeface="Calibri" pitchFamily="34" charset="0"/>
                <a:ea typeface="Calibri" pitchFamily="34" charset="-122"/>
                <a:cs typeface="Calibri" pitchFamily="34" charset="-120"/>
              </a:rPr>
              <a:t>{"year":"2030s+","event":"Fault-tolerant QAI integration"}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Challenges in QAI Development</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NAVIGATING THE HURDLES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Hardware limitations (qubit stability, coherence).</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Scalability and error correction.</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Algorithm development complexity.</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Need for specialized talent.</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High implementation costs.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The Role of Data in QAI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QUANTUM DATA REPRESENTATION</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Shape 3"/>
          <p:cNvSpPr/>
          <p:nvPr/>
        </p:nvSpPr>
        <p:spPr>
          <a:xfrm>
            <a:off x="731520" y="1645920"/>
            <a:ext cx="4754880" cy="4389120"/>
          </a:xfrm>
          <a:prstGeom prst="rect">
            <a:avLst/>
          </a:prstGeom>
          <a:solidFill>
            <a:srgbClr val="EDEDED"/>
          </a:solidFill>
          <a:ln w="19050">
            <a:solidFill>
              <a:srgbClr val="328CC1"/>
            </a:solidFill>
            <a:prstDash val="solid"/>
          </a:ln>
        </p:spPr>
      </p:sp>
      <p:sp>
        <p:nvSpPr>
          <p:cNvPr id="7" name="Text 4"/>
          <p:cNvSpPr/>
          <p:nvPr/>
        </p:nvSpPr>
        <p:spPr>
          <a:xfrm>
            <a:off x="914400" y="2011680"/>
            <a:ext cx="4389120" cy="3657600"/>
          </a:xfrm>
          <a:prstGeom prst="rect">
            <a:avLst/>
          </a:prstGeom>
          <a:noFill/>
          <a:ln/>
        </p:spPr>
        <p:txBody>
          <a:bodyPr wrap="square" rtlCol="0" anchor="ctr"/>
          <a:lstStyle/>
          <a:p>
            <a:pPr algn="ctr" indent="0" marL="0">
              <a:buNone/>
            </a:pPr>
            <a:r>
              <a:rPr lang="en-US" sz="1300" i="1" dirty="0">
                <a:solidFill>
                  <a:srgbClr val="1D2731"/>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1D2731"/>
                </a:solidFill>
                <a:latin typeface="Calibri" pitchFamily="34" charset="0"/>
                <a:ea typeface="Calibri" pitchFamily="34" charset="-122"/>
                <a:cs typeface="Calibri" pitchFamily="34" charset="-120"/>
              </a:rPr>
              <a:t>"Visual representation of classical data points being transformed into complex quantum states or wave functions."</a:t>
            </a:r>
            <a:endParaRPr lang="en-US" sz="1300" dirty="0"/>
          </a:p>
        </p:txBody>
      </p:sp>
      <p:sp>
        <p:nvSpPr>
          <p:cNvPr id="8" name="Text 5"/>
          <p:cNvSpPr/>
          <p:nvPr/>
        </p:nvSpPr>
        <p:spPr>
          <a:xfrm>
            <a:off x="603504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Encoding classical data into quantum states.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Quantum feature maps for complex data.</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Potential for processing larger datasets.</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Handling high-dimensional data effectively.</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New approaches to data privacy.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Quantum vs. Classical AI Performance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WHEN QAI EXCELS</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{"column1":"Optimization Problems","column2":"Quantum algorithms like QAOA show promise."}</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{"column1":"Pattern Recognition","column2":"Quantum feature spaces offer advantages."}</a:t>
            </a:r>
            <a:endParaRPr lang="en-US" sz="1500" dirty="0"/>
          </a:p>
        </p:txBody>
      </p:sp>
      <p:sp>
        <p:nvSpPr>
          <p:cNvPr id="7" name="Text 4"/>
          <p:cNvSpPr/>
          <p:nvPr/>
        </p:nvSpPr>
        <p:spPr>
          <a:xfrm>
            <a:off x="640080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{"column1":"Sampling &amp; Simulation","column2":"Quantum systems naturally excel."}</a:t>
            </a:r>
            <a:endParaRPr lang="en-US" sz="1500" dirty="0"/>
          </a:p>
          <a:p>
            <a:pPr marL="342900" indent="-342900">
              <a:lnSpc>
                <a:spcPts val="2400"/>
              </a:lnSpc>
              <a:buSzPct val="100000"/>
              <a:buChar char="•"/>
            </a:pPr>
            <a:r>
              <a:rPr lang="en-US" sz="1500" dirty="0">
                <a:solidFill>
                  <a:srgbClr val="1D2731"/>
                </a:solidFill>
                <a:latin typeface="Calibri" pitchFamily="34" charset="0"/>
                <a:ea typeface="Calibri" pitchFamily="34" charset="-122"/>
                <a:cs typeface="Calibri" pitchFamily="34" charset="-120"/>
              </a:rPr>
              <a:t>{"column1":"Large-scale Linear Algebra","column2":"Potential for speedups (HHL algorithm)."}</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Ethical Considerations in QAI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RESPONSIBLE DEVELOPMENT</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Bias amplification in quantum models.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Security implications of quantum cryptography.</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Equitable access to quantum resources.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Job displacement concerns.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Need for transparent AI governance.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9F9"/>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0B3C5D"/>
                </a:solidFill>
                <a:latin typeface="Trebuchet MS" pitchFamily="34" charset="0"/>
                <a:ea typeface="Trebuchet MS" pitchFamily="34" charset="-122"/>
                <a:cs typeface="Trebuchet MS" pitchFamily="34" charset="-120"/>
              </a:rPr>
              <a:t>The Future Outlook for QAI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D9B310"/>
                </a:solidFill>
                <a:latin typeface="Calibri" pitchFamily="34" charset="0"/>
                <a:ea typeface="Calibri" pitchFamily="34" charset="-122"/>
                <a:cs typeface="Calibri" pitchFamily="34" charset="-120"/>
              </a:rPr>
              <a:t>A TRANSFORMATIVE ERA</a:t>
            </a:r>
            <a:endParaRPr lang="en-US" sz="1100" dirty="0"/>
          </a:p>
        </p:txBody>
      </p:sp>
      <p:sp>
        <p:nvSpPr>
          <p:cNvPr id="5" name="Shape 2"/>
          <p:cNvSpPr/>
          <p:nvPr/>
        </p:nvSpPr>
        <p:spPr>
          <a:xfrm>
            <a:off x="731520" y="1188720"/>
            <a:ext cx="10725912" cy="9144"/>
          </a:xfrm>
          <a:prstGeom prst="line">
            <a:avLst/>
          </a:prstGeom>
          <a:noFill/>
          <a:ln w="12700">
            <a:solidFill>
              <a:srgbClr val="328CC1"/>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Continued hardware improvements.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Maturation of QML algorithms.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Hybrid quantum-classical approaches.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Integration into mainstream AI workflows.</a:t>
            </a:r>
            <a:endParaRPr lang="en-US" sz="1600" dirty="0"/>
          </a:p>
          <a:p>
            <a:pPr marL="342900" indent="-342900">
              <a:lnSpc>
                <a:spcPts val="2800"/>
              </a:lnSpc>
              <a:buSzPct val="100000"/>
              <a:buChar char="•"/>
            </a:pPr>
            <a:r>
              <a:rPr lang="en-US" sz="1600" dirty="0">
                <a:solidFill>
                  <a:srgbClr val="1D2731"/>
                </a:solidFill>
                <a:latin typeface="Calibri" pitchFamily="34" charset="0"/>
                <a:ea typeface="Calibri" pitchFamily="34" charset="-122"/>
                <a:cs typeface="Calibri" pitchFamily="34" charset="-120"/>
              </a:rPr>
              <a:t>Unforeseen breakthroughs and applications.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5D"/>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D9B310"/>
          </a:solidFill>
          <a:ln/>
        </p:spPr>
      </p:sp>
      <p:sp>
        <p:nvSpPr>
          <p:cNvPr id="4" name="Text 1"/>
          <p:cNvSpPr/>
          <p:nvPr/>
        </p:nvSpPr>
        <p:spPr>
          <a:xfrm>
            <a:off x="914400" y="1828800"/>
            <a:ext cx="10360152" cy="1097280"/>
          </a:xfrm>
          <a:prstGeom prst="rect">
            <a:avLst/>
          </a:prstGeom>
          <a:noFill/>
          <a:ln/>
        </p:spPr>
        <p:txBody>
          <a:bodyPr wrap="square"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Quantum AI: The Next Frontier</a:t>
            </a:r>
            <a:endParaRPr lang="en-US" sz="4000" dirty="0"/>
          </a:p>
        </p:txBody>
      </p:sp>
      <p:sp>
        <p:nvSpPr>
          <p:cNvPr id="5" name="Text 2"/>
          <p:cNvSpPr/>
          <p:nvPr/>
        </p:nvSpPr>
        <p:spPr>
          <a:xfrm>
            <a:off x="1828800" y="3474720"/>
            <a:ext cx="8531352" cy="2286000"/>
          </a:xfrm>
          <a:prstGeom prst="rect">
            <a:avLst/>
          </a:prstGeom>
          <a:noFill/>
          <a:ln/>
        </p:spPr>
        <p:txBody>
          <a:bodyPr wrap="square" rtlCol="0" anchor="ctr"/>
          <a:lstStyle/>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QAI merges quantum computing and AI for superior capabilities.</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Offers significant speedups and new problem-solving abilities.</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Key applications span healthcare, finance, and more.</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Challenges in hardware and talent need addressing.</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The future holds immense transformative potential.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2026-06-04T10:17:00Z</dcterms:created>
  <dcterms:modified xsi:type="dcterms:W3CDTF">2026-06-04T10:17:00Z</dcterms:modified>
</cp:coreProperties>
</file>