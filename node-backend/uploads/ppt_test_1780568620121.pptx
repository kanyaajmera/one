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Potential Speedups in ML Tasks</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Sheet1!$A$2:$A$5</c:f>
              <c:multiLvlStrCache>
                <c:ptCount val="4"/>
                <c:lvl>
                  <c:pt idx="0">
                    <c:v>Category A</c:v>
                  </c:pt>
                  <c:pt idx="1">
                    <c:v>Category B</c:v>
                  </c:pt>
                  <c:pt idx="2">
                    <c:v>Category C</c:v>
                  </c:pt>
                  <c:pt idx="3">
                    <c:v>Category D</c:v>
                  </c:pt>
                </c:lvl>
              </c:multiLvlStrCache>
            </c:multiLvlStrRef>
          </c:cat>
          <c:val>
            <c:numRef>
              <c:f>Sheet1!$B$2:$B$5</c:f>
              <c:numCache>
                <c:formatCode>General</c:formatCode>
                <c:ptCount val="4"/>
                <c:pt idx="0">
                  <c:v>30</c:v>
                </c:pt>
                <c:pt idx="1">
                  <c:v>50</c:v>
                </c:pt>
                <c:pt idx="2">
                  <c:v>20</c:v>
                </c:pt>
                <c:pt idx="3">
                  <c:v>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delve into the exciting intersection of Quantum Computing and Artificial Intelligence. This presentation will explore how these two powerful fields are merging to create new possibilities and address challenges previously thought insurmountable.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quantum AI, let's quickly recap what Artificial Intelligence is. AI is a broad field focused on building systems that can perform tasks typically requiring human intelligence. This includes learning from data, problem-solving, and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Quantum Computing. Unlike classical computers that use bits (0s and 1s), quantum computers use qubits. Qubits can represent 0, 1, or a superposition of both simultaneously, and can be entangled. This allows quantum computers to explore many possibilities at once, offering incredible potential for certain types of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fundamental differences. Classical computers are ubiquitous and versatile, but struggle with problems of extreme complexity. Quantum computers, while nascent, are designed to tackle these very problems, offering a completely different paradigm.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AI, or Quantum Machine Learning (QML), is the field that explores how quantum computing can be used to improve AI algorithms or how AI can help design better quantum algorithms. It's about combining the strengths of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Machine Learning is a significant part of Quantum AI. It involves developing quantum algorithms that can potentially perform ML tasks much faster or more efficiently than classical methods. Techniques like VQE, QSVM, and QNN are at the forefront.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compelling aspects of Quantum AI is the potential for dramatic speedups in machine learning tasks. This chart illustrates the theoretical advantage quantum algorithms could offer over their classical counterparts for certain complex computations.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potential applications are vast and span across numerous industries. Quantum AI could revolutionize how we approach complex problems in fields ranging from medicine and finance to logistics and scientific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drug discovery, simulating molecular behavior is critical. Quantum computers can model these interactions with unprecedented accuracy, potentially leading to faster development of new medicines and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sector can benefit immensely. Quantum AI can handle the complex calculations required for sophisticated risk management, portfolio optimization, and potentially identify patterns invisible to classical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immense potential, significant challenges remain. Building stable, scalable quantum computers is a major hurdle. We also need to develop more quantum algorithms and train people with the necessary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we anticipate continued rapid progress. Hybrid approaches, combining classical and quantum resources, will likely dominate in the near term. We expect to see quantum advantage demonstrated for increasingly practical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shows key milestones. From early theoretical work in the 2010s to the current era of noisy intermediate-scale quantum (NISQ) devices, we're seeing steady progress towards more powerful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with any powerful technology, Quantum AI brings ethical considerations. We must proactively address issues like data privacy, potential bias, and the societal impact to ensure responsible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Quantum AI is not just theoretical; it's rapidly becoming a reality. The convergence of quantum computing and artificial intelligence holds the key to unlocking unprecedented capabilities and reshaping our world. While challenges remain, the trajectory is clear: a future where quantum plays a crucial role in advancing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E28413"/>
          </a:solidFill>
          <a:ln/>
        </p:spPr>
      </p:sp>
      <p:sp>
        <p:nvSpPr>
          <p:cNvPr id="4" name="Text 1"/>
          <p:cNvSpPr/>
          <p:nvPr/>
        </p:nvSpPr>
        <p:spPr>
          <a:xfrm>
            <a:off x="914400" y="1645920"/>
            <a:ext cx="10360152" cy="1371600"/>
          </a:xfrm>
          <a:prstGeom prst="rect">
            <a:avLst/>
          </a:prstGeom>
          <a:noFill/>
          <a:ln/>
        </p:spPr>
        <p:txBody>
          <a:bodyPr wrap="square"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The Rise of Quantum Artificial Intelligence</a:t>
            </a:r>
            <a:endParaRPr lang="en-US" sz="4400" dirty="0"/>
          </a:p>
        </p:txBody>
      </p:sp>
      <p:sp>
        <p:nvSpPr>
          <p:cNvPr id="5" name="Text 2"/>
          <p:cNvSpPr/>
          <p:nvPr/>
        </p:nvSpPr>
        <p:spPr>
          <a:xfrm>
            <a:off x="914400" y="3474720"/>
            <a:ext cx="10360152" cy="731520"/>
          </a:xfrm>
          <a:prstGeom prst="rect">
            <a:avLst/>
          </a:prstGeom>
          <a:noFill/>
          <a:ln/>
        </p:spPr>
        <p:txBody>
          <a:bodyPr wrap="square" rtlCol="0" anchor="ctr"/>
          <a:lstStyle/>
          <a:p>
            <a:pPr algn="ctr" indent="0" marL="0">
              <a:buNone/>
            </a:pPr>
            <a:r>
              <a:rPr lang="en-US" sz="2200" dirty="0">
                <a:solidFill>
                  <a:srgbClr val="E28413"/>
                </a:solidFill>
                <a:latin typeface="Calibri" pitchFamily="34" charset="0"/>
                <a:ea typeface="Calibri" pitchFamily="34" charset="-122"/>
                <a:cs typeface="Calibri" pitchFamily="34" charset="-120"/>
              </a:rPr>
              <a:t>Exploring the Convergence of Two Transformative Technologies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What is Artificial Intelligence?</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A BRIEF OVERVIEW</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AI aims to create intelligent machines.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Mimics human cognitive functions like learning.</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Includes machine learning, deep learning, and NLP.</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Powers many modern applications and services.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Constantly evolving with new algorithms.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What is Quantum Computing?</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HARNESSING QUANTUM MECHANICS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Utilizes quantum phenomena like superposition and entanglement.</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Operates on qubits, not classical bits.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Offers potential for exponential speedups.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Excels at specific complex problems.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Still in early stages of development.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Classical vs. Quantum Computing</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KEY DIFFERENCES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1645920"/>
            <a:ext cx="5029200" cy="4389120"/>
          </a:xfrm>
          <a:prstGeom prst="rect">
            <a:avLst/>
          </a:prstGeom>
          <a:solidFill>
            <a:srgbClr val="FFFFFF"/>
          </a:solidFill>
          <a:ln w="12700">
            <a:solidFill>
              <a:srgbClr val="333333"/>
            </a:solidFill>
            <a:prstDash val="solid"/>
          </a:ln>
        </p:spPr>
      </p:sp>
      <p:sp>
        <p:nvSpPr>
          <p:cNvPr id="7" name="Text 4"/>
          <p:cNvSpPr/>
          <p:nvPr/>
        </p:nvSpPr>
        <p:spPr>
          <a:xfrm>
            <a:off x="914400" y="1828800"/>
            <a:ext cx="4663440" cy="402336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Classical: Bits (0 or 1), sequential processing, limited complexity.</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Qubits (superposition), parallel processing, handles complex problems.</a:t>
            </a:r>
            <a:endParaRPr lang="en-US" sz="1500" dirty="0"/>
          </a:p>
        </p:txBody>
      </p:sp>
      <p:sp>
        <p:nvSpPr>
          <p:cNvPr id="8" name="Shape 5"/>
          <p:cNvSpPr/>
          <p:nvPr/>
        </p:nvSpPr>
        <p:spPr>
          <a:xfrm>
            <a:off x="6400800" y="1645920"/>
            <a:ext cx="5029200" cy="4389120"/>
          </a:xfrm>
          <a:prstGeom prst="rect">
            <a:avLst/>
          </a:prstGeom>
          <a:solidFill>
            <a:srgbClr val="FFFFFF"/>
          </a:solidFill>
          <a:ln w="12700">
            <a:solidFill>
              <a:srgbClr val="E28413"/>
            </a:solidFill>
            <a:prstDash val="solid"/>
          </a:ln>
        </p:spPr>
      </p:sp>
      <p:sp>
        <p:nvSpPr>
          <p:cNvPr id="9" name="Text 6"/>
          <p:cNvSpPr/>
          <p:nvPr/>
        </p:nvSpPr>
        <p:spPr>
          <a:xfrm>
            <a:off x="6583680" y="1828800"/>
            <a:ext cx="4663440" cy="402336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Classical: Well-established, broad applications.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Emerging, specialized applications, potential for disruption.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The Synergy: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WHERE AI MEETS QUANTUM</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Leveraging quantum for AI tasks.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Enhancing machine learning algorithms.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Solving AI problems intractable for classical computers.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Quantum-enhanced optimization and sampling.</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New avenues for AI research and development.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Quantum Machine Learning (QML)</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KEY CONCEPTS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algorithms for faster ML.</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Variational Quantum Eigensolvers (VQE).</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Support Vector Machines (QSVM).</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Neural Networks (QNN).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annealing for optimization.</a:t>
            </a:r>
            <a:endParaRPr lang="en-US" sz="1500" dirty="0"/>
          </a:p>
        </p:txBody>
      </p:sp>
      <p:sp>
        <p:nvSpPr>
          <p:cNvPr id="7" name="Shape 4"/>
          <p:cNvSpPr/>
          <p:nvPr/>
        </p:nvSpPr>
        <p:spPr>
          <a:xfrm>
            <a:off x="6675120" y="1645920"/>
            <a:ext cx="4754880" cy="4389120"/>
          </a:xfrm>
          <a:prstGeom prst="rect">
            <a:avLst/>
          </a:prstGeom>
          <a:solidFill>
            <a:srgbClr val="EAEAEA"/>
          </a:solidFill>
          <a:ln w="19050">
            <a:solidFill>
              <a:srgbClr val="333333"/>
            </a:solidFill>
            <a:prstDash val="solid"/>
          </a:ln>
        </p:spPr>
      </p:sp>
      <p:sp>
        <p:nvSpPr>
          <p:cNvPr id="8" name="Text 5"/>
          <p:cNvSpPr/>
          <p:nvPr/>
        </p:nvSpPr>
        <p:spPr>
          <a:xfrm>
            <a:off x="68580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"A stylized diagram illustrating the components of a Quantum Neural Network, showing qubits as nodes and quantum gates as connections, processing input data and producing an output. Dark background, glowing circuit-like connections."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Potential Speedups in ML Tasks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ALGORITHMIC ADVANTAGE</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Quantum algorithms promise significant speedups.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Faster data analysis and pattern recognition.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Improved model training times.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Handling larger and more complex datasets.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Potential for exponential gains in specific scenarios.</a:t>
            </a:r>
            <a:endParaRPr lang="en-US" sz="1500" dirty="0"/>
          </a:p>
        </p:txBody>
      </p:sp>
      <p:graphicFrame>
        <p:nvGraphicFramePr>
          <p:cNvPr id="7" name="Chart 0" descr=""/>
          <p:cNvGraphicFramePr/>
          <p:nvPr/>
        </p:nvGraphicFramePr>
        <p:xfrm>
          <a:off x="6400800" y="1645920"/>
          <a:ext cx="502920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Applications of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TRANSFORMING INDUSTRIES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{"column1":"Drug Discovery &amp; Materials Science","column2":"Simulating molecular interactions."}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{"column1":"Financial Modeling","column2":"Optimizing portfolios, risk analysis."}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{"column1":"Logistics &amp; Optimization","column2":"Solving complex routing problems."}</a:t>
            </a:r>
            <a:endParaRPr lang="en-US" sz="1500" dirty="0"/>
          </a:p>
        </p:txBody>
      </p:sp>
      <p:sp>
        <p:nvSpPr>
          <p:cNvPr id="7" name="Text 4"/>
          <p:cNvSpPr/>
          <p:nvPr/>
        </p:nvSpPr>
        <p:spPr>
          <a:xfrm>
            <a:off x="6400800" y="1645920"/>
            <a:ext cx="502920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{"column1":"Cybersecurity","column2":"Advanced pattern detection."}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{"column1":"Fundamental Research","column2":"Exploring complex systems."}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Drug Discovery &amp; Materials Science</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QUANTUM SIMULATION POWER</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1645920"/>
            <a:ext cx="4754880" cy="4389120"/>
          </a:xfrm>
          <a:prstGeom prst="rect">
            <a:avLst/>
          </a:prstGeom>
          <a:solidFill>
            <a:srgbClr val="EAEAEA"/>
          </a:solidFill>
          <a:ln w="19050">
            <a:solidFill>
              <a:srgbClr val="333333"/>
            </a:solidFill>
            <a:prstDash val="solid"/>
          </a:ln>
        </p:spPr>
      </p:sp>
      <p:sp>
        <p:nvSpPr>
          <p:cNvPr id="7" name="Text 4"/>
          <p:cNvSpPr/>
          <p:nvPr/>
        </p:nvSpPr>
        <p:spPr>
          <a:xfrm>
            <a:off x="9144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"A high-resolution 3D rendering of a complex molecule, glowing with intricate details, possibly superimposed over abstract quantum circuit patterns. Use a dark, sophisticated color palette."</a:t>
            </a:r>
            <a:endParaRPr lang="en-US" sz="1300" dirty="0"/>
          </a:p>
        </p:txBody>
      </p:sp>
      <p:sp>
        <p:nvSpPr>
          <p:cNvPr id="8" name="Text 5"/>
          <p:cNvSpPr/>
          <p:nvPr/>
        </p:nvSpPr>
        <p:spPr>
          <a:xfrm>
            <a:off x="603504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Accurate simulation of molecules.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Accelerating drug design cycles.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Discovering novel materials with desired properties.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Understanding complex chemical reactions.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Reducing experimental trial and error.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Financial Modeling</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ENHANCED ANALYTICS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Complex risk analysis.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Portfolio optimization.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Fraud detection.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High-frequency trading strategies.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More accurate forecasting.</a:t>
            </a:r>
            <a:endParaRPr lang="en-US" sz="1500" dirty="0"/>
          </a:p>
        </p:txBody>
      </p:sp>
      <p:sp>
        <p:nvSpPr>
          <p:cNvPr id="7" name="Shape 4"/>
          <p:cNvSpPr/>
          <p:nvPr/>
        </p:nvSpPr>
        <p:spPr>
          <a:xfrm>
            <a:off x="6675120" y="1645920"/>
            <a:ext cx="4754880" cy="4389120"/>
          </a:xfrm>
          <a:prstGeom prst="rect">
            <a:avLst/>
          </a:prstGeom>
          <a:solidFill>
            <a:srgbClr val="EAEAEA"/>
          </a:solidFill>
          <a:ln w="19050">
            <a:solidFill>
              <a:srgbClr val="333333"/>
            </a:solidFill>
            <a:prstDash val="solid"/>
          </a:ln>
        </p:spPr>
      </p:sp>
      <p:sp>
        <p:nvSpPr>
          <p:cNvPr id="8" name="Text 5"/>
          <p:cNvSpPr/>
          <p:nvPr/>
        </p:nvSpPr>
        <p:spPr>
          <a:xfrm>
            <a:off x="68580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"A dynamic visual representing financial markets, with abstract data streams and graphs overlaid on a backdrop of city lights at night. Incorporate subtle quantum-inspired visual elements."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Challenges and Hurdles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THE ROAD AHEAD</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Hardware limitations and stability (decoherence).</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Scalability of quantum systems.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Development of robust quantum algorithms.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Need for specialized expertise.</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Integration with existing classical infrastructure.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The Future Outlook</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WHAT TO EXPECT</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Text 3"/>
          <p:cNvSpPr/>
          <p:nvPr/>
        </p:nvSpPr>
        <p:spPr>
          <a:xfrm>
            <a:off x="731520" y="1645920"/>
            <a:ext cx="10725912" cy="4389120"/>
          </a:xfrm>
          <a:prstGeom prst="rect">
            <a:avLst/>
          </a:prstGeom>
          <a:noFill/>
          <a:ln/>
        </p:spPr>
        <p:txBody>
          <a:bodyPr wrap="square" rtlCol="0" anchor="t"/>
          <a:lstStyle/>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Continued rapid advancements in hardware.</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Growth in hybrid quantum-classical approaches.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Emergence of industry-specific QML solutions.</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Increasing investment and research.</a:t>
            </a:r>
            <a:endParaRPr lang="en-US" sz="1600" dirty="0"/>
          </a:p>
          <a:p>
            <a:pPr marL="342900" indent="-342900">
              <a:lnSpc>
                <a:spcPts val="2800"/>
              </a:lnSpc>
              <a:buSzPct val="100000"/>
              <a:buChar char="•"/>
            </a:pPr>
            <a:r>
              <a:rPr lang="en-US" sz="1600" dirty="0">
                <a:solidFill>
                  <a:srgbClr val="EEEEEE"/>
                </a:solidFill>
                <a:latin typeface="Calibri" pitchFamily="34" charset="0"/>
                <a:ea typeface="Calibri" pitchFamily="34" charset="-122"/>
                <a:cs typeface="Calibri" pitchFamily="34" charset="-120"/>
              </a:rPr>
              <a:t>Quantum advantage for specific problems likely soon.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Milestones in Quantum AI</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A BRIEF HISTORY AND PROJECTION</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3657600"/>
            <a:ext cx="10725912" cy="0"/>
          </a:xfrm>
          <a:prstGeom prst="line">
            <a:avLst/>
          </a:prstGeom>
          <a:noFill/>
          <a:ln w="38100">
            <a:solidFill>
              <a:srgbClr val="333333"/>
            </a:solidFill>
            <a:prstDash val="solid"/>
          </a:ln>
        </p:spPr>
      </p:sp>
      <p:sp>
        <p:nvSpPr>
          <p:cNvPr id="7" name="Shape 4"/>
          <p:cNvSpPr/>
          <p:nvPr/>
        </p:nvSpPr>
        <p:spPr>
          <a:xfrm>
            <a:off x="1689811" y="3543300"/>
            <a:ext cx="228600" cy="228600"/>
          </a:xfrm>
          <a:prstGeom prst="ellipse">
            <a:avLst/>
          </a:prstGeom>
          <a:solidFill>
            <a:srgbClr val="E28413"/>
          </a:solidFill>
          <a:ln/>
        </p:spPr>
      </p:sp>
      <p:sp>
        <p:nvSpPr>
          <p:cNvPr id="8" name="Shape 5"/>
          <p:cNvSpPr/>
          <p:nvPr/>
        </p:nvSpPr>
        <p:spPr>
          <a:xfrm>
            <a:off x="1804111" y="3200400"/>
            <a:ext cx="0" cy="457200"/>
          </a:xfrm>
          <a:prstGeom prst="line">
            <a:avLst/>
          </a:prstGeom>
          <a:noFill/>
          <a:ln w="12700">
            <a:solidFill>
              <a:srgbClr val="E28413"/>
            </a:solidFill>
            <a:prstDash val="dash"/>
          </a:ln>
        </p:spPr>
      </p:sp>
      <p:sp>
        <p:nvSpPr>
          <p:cNvPr id="9" name="Shape 6"/>
          <p:cNvSpPr/>
          <p:nvPr/>
        </p:nvSpPr>
        <p:spPr>
          <a:xfrm>
            <a:off x="868680" y="1828800"/>
            <a:ext cx="1870862" cy="1645920"/>
          </a:xfrm>
          <a:prstGeom prst="rect">
            <a:avLst/>
          </a:prstGeom>
          <a:solidFill>
            <a:srgbClr val="FFFFFF"/>
          </a:solidFill>
          <a:ln w="12700">
            <a:solidFill>
              <a:srgbClr val="333333"/>
            </a:solidFill>
            <a:prstDash val="solid"/>
          </a:ln>
        </p:spPr>
      </p:sp>
      <p:sp>
        <p:nvSpPr>
          <p:cNvPr id="10" name="Text 7"/>
          <p:cNvSpPr/>
          <p:nvPr/>
        </p:nvSpPr>
        <p:spPr>
          <a:xfrm>
            <a:off x="914400" y="1920240"/>
            <a:ext cx="1779422"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1</a:t>
            </a:r>
            <a:endParaRPr lang="en-US" sz="1200" dirty="0"/>
          </a:p>
        </p:txBody>
      </p:sp>
      <p:sp>
        <p:nvSpPr>
          <p:cNvPr id="11" name="Text 8"/>
          <p:cNvSpPr/>
          <p:nvPr/>
        </p:nvSpPr>
        <p:spPr>
          <a:xfrm>
            <a:off x="914400" y="2240280"/>
            <a:ext cx="1779422"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{"year":"2010s","event":"Early QML algorithms developed"}</a:t>
            </a:r>
            <a:endParaRPr lang="en-US" sz="1000" dirty="0"/>
          </a:p>
        </p:txBody>
      </p:sp>
      <p:sp>
        <p:nvSpPr>
          <p:cNvPr id="12" name="Shape 9"/>
          <p:cNvSpPr/>
          <p:nvPr/>
        </p:nvSpPr>
        <p:spPr>
          <a:xfrm>
            <a:off x="3834994" y="3543300"/>
            <a:ext cx="228600" cy="228600"/>
          </a:xfrm>
          <a:prstGeom prst="ellipse">
            <a:avLst/>
          </a:prstGeom>
          <a:solidFill>
            <a:srgbClr val="E28413"/>
          </a:solidFill>
          <a:ln/>
        </p:spPr>
      </p:sp>
      <p:sp>
        <p:nvSpPr>
          <p:cNvPr id="13" name="Shape 10"/>
          <p:cNvSpPr/>
          <p:nvPr/>
        </p:nvSpPr>
        <p:spPr>
          <a:xfrm>
            <a:off x="3949294" y="3657600"/>
            <a:ext cx="0" cy="457200"/>
          </a:xfrm>
          <a:prstGeom prst="line">
            <a:avLst/>
          </a:prstGeom>
          <a:noFill/>
          <a:ln w="12700">
            <a:solidFill>
              <a:srgbClr val="E28413"/>
            </a:solidFill>
            <a:prstDash val="dash"/>
          </a:ln>
        </p:spPr>
      </p:sp>
      <p:sp>
        <p:nvSpPr>
          <p:cNvPr id="14" name="Shape 11"/>
          <p:cNvSpPr/>
          <p:nvPr/>
        </p:nvSpPr>
        <p:spPr>
          <a:xfrm>
            <a:off x="3013862" y="4023360"/>
            <a:ext cx="1870862" cy="1645920"/>
          </a:xfrm>
          <a:prstGeom prst="rect">
            <a:avLst/>
          </a:prstGeom>
          <a:solidFill>
            <a:srgbClr val="FFFFFF"/>
          </a:solidFill>
          <a:ln w="12700">
            <a:solidFill>
              <a:srgbClr val="333333"/>
            </a:solidFill>
            <a:prstDash val="solid"/>
          </a:ln>
        </p:spPr>
      </p:sp>
      <p:sp>
        <p:nvSpPr>
          <p:cNvPr id="15" name="Text 12"/>
          <p:cNvSpPr/>
          <p:nvPr/>
        </p:nvSpPr>
        <p:spPr>
          <a:xfrm>
            <a:off x="3059582" y="4114800"/>
            <a:ext cx="1779422"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2</a:t>
            </a:r>
            <a:endParaRPr lang="en-US" sz="1200" dirty="0"/>
          </a:p>
        </p:txBody>
      </p:sp>
      <p:sp>
        <p:nvSpPr>
          <p:cNvPr id="16" name="Text 13"/>
          <p:cNvSpPr/>
          <p:nvPr/>
        </p:nvSpPr>
        <p:spPr>
          <a:xfrm>
            <a:off x="3059582" y="4434840"/>
            <a:ext cx="1779422"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{"year":"Late 2010s","event":"NISQ era begins, hybrid approaches"}</a:t>
            </a:r>
            <a:endParaRPr lang="en-US" sz="1000" dirty="0"/>
          </a:p>
        </p:txBody>
      </p:sp>
      <p:sp>
        <p:nvSpPr>
          <p:cNvPr id="17" name="Shape 14"/>
          <p:cNvSpPr/>
          <p:nvPr/>
        </p:nvSpPr>
        <p:spPr>
          <a:xfrm>
            <a:off x="5980176" y="3543300"/>
            <a:ext cx="228600" cy="228600"/>
          </a:xfrm>
          <a:prstGeom prst="ellipse">
            <a:avLst/>
          </a:prstGeom>
          <a:solidFill>
            <a:srgbClr val="E28413"/>
          </a:solidFill>
          <a:ln/>
        </p:spPr>
      </p:sp>
      <p:sp>
        <p:nvSpPr>
          <p:cNvPr id="18" name="Shape 15"/>
          <p:cNvSpPr/>
          <p:nvPr/>
        </p:nvSpPr>
        <p:spPr>
          <a:xfrm>
            <a:off x="6094476" y="3200400"/>
            <a:ext cx="0" cy="457200"/>
          </a:xfrm>
          <a:prstGeom prst="line">
            <a:avLst/>
          </a:prstGeom>
          <a:noFill/>
          <a:ln w="12700">
            <a:solidFill>
              <a:srgbClr val="E28413"/>
            </a:solidFill>
            <a:prstDash val="dash"/>
          </a:ln>
        </p:spPr>
      </p:sp>
      <p:sp>
        <p:nvSpPr>
          <p:cNvPr id="19" name="Shape 16"/>
          <p:cNvSpPr/>
          <p:nvPr/>
        </p:nvSpPr>
        <p:spPr>
          <a:xfrm>
            <a:off x="5159045" y="1828800"/>
            <a:ext cx="1870862" cy="1645920"/>
          </a:xfrm>
          <a:prstGeom prst="rect">
            <a:avLst/>
          </a:prstGeom>
          <a:solidFill>
            <a:srgbClr val="FFFFFF"/>
          </a:solidFill>
          <a:ln w="12700">
            <a:solidFill>
              <a:srgbClr val="333333"/>
            </a:solidFill>
            <a:prstDash val="solid"/>
          </a:ln>
        </p:spPr>
      </p:sp>
      <p:sp>
        <p:nvSpPr>
          <p:cNvPr id="20" name="Text 17"/>
          <p:cNvSpPr/>
          <p:nvPr/>
        </p:nvSpPr>
        <p:spPr>
          <a:xfrm>
            <a:off x="5204765" y="1920240"/>
            <a:ext cx="1779422"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3</a:t>
            </a:r>
            <a:endParaRPr lang="en-US" sz="1200" dirty="0"/>
          </a:p>
        </p:txBody>
      </p:sp>
      <p:sp>
        <p:nvSpPr>
          <p:cNvPr id="21" name="Text 18"/>
          <p:cNvSpPr/>
          <p:nvPr/>
        </p:nvSpPr>
        <p:spPr>
          <a:xfrm>
            <a:off x="5204765" y="2240280"/>
            <a:ext cx="1779422"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{"year":"Present","event":"Active research, growing hardware capabilities"}</a:t>
            </a:r>
            <a:endParaRPr lang="en-US" sz="1000" dirty="0"/>
          </a:p>
        </p:txBody>
      </p:sp>
      <p:sp>
        <p:nvSpPr>
          <p:cNvPr id="22" name="Shape 19"/>
          <p:cNvSpPr/>
          <p:nvPr/>
        </p:nvSpPr>
        <p:spPr>
          <a:xfrm>
            <a:off x="8125358" y="3543300"/>
            <a:ext cx="228600" cy="228600"/>
          </a:xfrm>
          <a:prstGeom prst="ellipse">
            <a:avLst/>
          </a:prstGeom>
          <a:solidFill>
            <a:srgbClr val="E28413"/>
          </a:solidFill>
          <a:ln/>
        </p:spPr>
      </p:sp>
      <p:sp>
        <p:nvSpPr>
          <p:cNvPr id="23" name="Shape 20"/>
          <p:cNvSpPr/>
          <p:nvPr/>
        </p:nvSpPr>
        <p:spPr>
          <a:xfrm>
            <a:off x="8239658" y="3657600"/>
            <a:ext cx="0" cy="457200"/>
          </a:xfrm>
          <a:prstGeom prst="line">
            <a:avLst/>
          </a:prstGeom>
          <a:noFill/>
          <a:ln w="12700">
            <a:solidFill>
              <a:srgbClr val="E28413"/>
            </a:solidFill>
            <a:prstDash val="dash"/>
          </a:ln>
        </p:spPr>
      </p:sp>
      <p:sp>
        <p:nvSpPr>
          <p:cNvPr id="24" name="Shape 21"/>
          <p:cNvSpPr/>
          <p:nvPr/>
        </p:nvSpPr>
        <p:spPr>
          <a:xfrm>
            <a:off x="7304227" y="4023360"/>
            <a:ext cx="1870862" cy="1645920"/>
          </a:xfrm>
          <a:prstGeom prst="rect">
            <a:avLst/>
          </a:prstGeom>
          <a:solidFill>
            <a:srgbClr val="FFFFFF"/>
          </a:solidFill>
          <a:ln w="12700">
            <a:solidFill>
              <a:srgbClr val="333333"/>
            </a:solidFill>
            <a:prstDash val="solid"/>
          </a:ln>
        </p:spPr>
      </p:sp>
      <p:sp>
        <p:nvSpPr>
          <p:cNvPr id="25" name="Text 22"/>
          <p:cNvSpPr/>
          <p:nvPr/>
        </p:nvSpPr>
        <p:spPr>
          <a:xfrm>
            <a:off x="7349947" y="4114800"/>
            <a:ext cx="1779422"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4</a:t>
            </a:r>
            <a:endParaRPr lang="en-US" sz="1200" dirty="0"/>
          </a:p>
        </p:txBody>
      </p:sp>
      <p:sp>
        <p:nvSpPr>
          <p:cNvPr id="26" name="Text 23"/>
          <p:cNvSpPr/>
          <p:nvPr/>
        </p:nvSpPr>
        <p:spPr>
          <a:xfrm>
            <a:off x="7349947" y="4434840"/>
            <a:ext cx="1779422"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{"year":"Near Future","event":"Demonstration of quantum advantage in specific tasks"}</a:t>
            </a:r>
            <a:endParaRPr lang="en-US" sz="1000" dirty="0"/>
          </a:p>
        </p:txBody>
      </p:sp>
      <p:sp>
        <p:nvSpPr>
          <p:cNvPr id="27" name="Shape 24"/>
          <p:cNvSpPr/>
          <p:nvPr/>
        </p:nvSpPr>
        <p:spPr>
          <a:xfrm>
            <a:off x="10270541" y="3543300"/>
            <a:ext cx="228600" cy="228600"/>
          </a:xfrm>
          <a:prstGeom prst="ellipse">
            <a:avLst/>
          </a:prstGeom>
          <a:solidFill>
            <a:srgbClr val="E28413"/>
          </a:solidFill>
          <a:ln/>
        </p:spPr>
      </p:sp>
      <p:sp>
        <p:nvSpPr>
          <p:cNvPr id="28" name="Shape 25"/>
          <p:cNvSpPr/>
          <p:nvPr/>
        </p:nvSpPr>
        <p:spPr>
          <a:xfrm>
            <a:off x="10384841" y="3200400"/>
            <a:ext cx="0" cy="457200"/>
          </a:xfrm>
          <a:prstGeom prst="line">
            <a:avLst/>
          </a:prstGeom>
          <a:noFill/>
          <a:ln w="12700">
            <a:solidFill>
              <a:srgbClr val="E28413"/>
            </a:solidFill>
            <a:prstDash val="dash"/>
          </a:ln>
        </p:spPr>
      </p:sp>
      <p:sp>
        <p:nvSpPr>
          <p:cNvPr id="29" name="Shape 26"/>
          <p:cNvSpPr/>
          <p:nvPr/>
        </p:nvSpPr>
        <p:spPr>
          <a:xfrm>
            <a:off x="9449410" y="1828800"/>
            <a:ext cx="1870862" cy="1645920"/>
          </a:xfrm>
          <a:prstGeom prst="rect">
            <a:avLst/>
          </a:prstGeom>
          <a:solidFill>
            <a:srgbClr val="FFFFFF"/>
          </a:solidFill>
          <a:ln w="12700">
            <a:solidFill>
              <a:srgbClr val="333333"/>
            </a:solidFill>
            <a:prstDash val="solid"/>
          </a:ln>
        </p:spPr>
      </p:sp>
      <p:sp>
        <p:nvSpPr>
          <p:cNvPr id="30" name="Text 27"/>
          <p:cNvSpPr/>
          <p:nvPr/>
        </p:nvSpPr>
        <p:spPr>
          <a:xfrm>
            <a:off x="9495130" y="1920240"/>
            <a:ext cx="1779422" cy="274320"/>
          </a:xfrm>
          <a:prstGeom prst="rect">
            <a:avLst/>
          </a:prstGeom>
          <a:noFill/>
          <a:ln/>
        </p:spPr>
        <p:txBody>
          <a:bodyPr wrap="square" rtlCol="0" anchor="ctr"/>
          <a:lstStyle/>
          <a:p>
            <a:pPr algn="ctr" indent="0" marL="0">
              <a:buNone/>
            </a:pPr>
            <a:r>
              <a:rPr lang="en-US" sz="1200" b="1" dirty="0">
                <a:solidFill>
                  <a:srgbClr val="111111"/>
                </a:solidFill>
                <a:latin typeface="Trebuchet MS" pitchFamily="34" charset="0"/>
                <a:ea typeface="Trebuchet MS" pitchFamily="34" charset="-122"/>
                <a:cs typeface="Trebuchet MS" pitchFamily="34" charset="-120"/>
              </a:rPr>
              <a:t>Step 5</a:t>
            </a:r>
            <a:endParaRPr lang="en-US" sz="1200" dirty="0"/>
          </a:p>
        </p:txBody>
      </p:sp>
      <p:sp>
        <p:nvSpPr>
          <p:cNvPr id="31" name="Text 28"/>
          <p:cNvSpPr/>
          <p:nvPr/>
        </p:nvSpPr>
        <p:spPr>
          <a:xfrm>
            <a:off x="9495130" y="2240280"/>
            <a:ext cx="1779422" cy="1143000"/>
          </a:xfrm>
          <a:prstGeom prst="rect">
            <a:avLst/>
          </a:prstGeom>
          <a:noFill/>
          <a:ln/>
        </p:spPr>
        <p:txBody>
          <a:bodyPr wrap="square" rtlCol="0" anchor="t"/>
          <a:lstStyle/>
          <a:p>
            <a:pPr algn="ctr" indent="0" marL="0">
              <a:buNone/>
            </a:pPr>
            <a:r>
              <a:rPr lang="en-US" sz="1000" dirty="0">
                <a:solidFill>
                  <a:srgbClr val="EEEEEE"/>
                </a:solidFill>
                <a:latin typeface="Calibri" pitchFamily="34" charset="0"/>
                <a:ea typeface="Calibri" pitchFamily="34" charset="-122"/>
                <a:cs typeface="Calibri" pitchFamily="34" charset="-120"/>
              </a:rPr>
              <a:t>{"year":"Long Term","event":"Fault-tolerant quantum computers, broad QAI adoption"}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p:bgPr>
    </p:bg>
    <p:spTree>
      <p:nvGrpSpPr>
        <p:cNvPr id="1" name=""/>
        <p:cNvGrpSpPr/>
        <p:nvPr/>
      </p:nvGrpSpPr>
      <p:grpSpPr>
        <a:xfrm>
          <a:off x="0" y="0"/>
          <a:ext cx="0" cy="0"/>
          <a:chOff x="0" y="0"/>
          <a:chExt cx="0" cy="0"/>
        </a:xfrm>
      </p:grpSpPr>
      <p:sp>
        <p:nvSpPr>
          <p:cNvPr id="3" name="Text 0"/>
          <p:cNvSpPr/>
          <p:nvPr/>
        </p:nvSpPr>
        <p:spPr>
          <a:xfrm>
            <a:off x="731520" y="457200"/>
            <a:ext cx="10725912" cy="731520"/>
          </a:xfrm>
          <a:prstGeom prst="rect">
            <a:avLst/>
          </a:prstGeom>
          <a:noFill/>
          <a:ln/>
        </p:spPr>
        <p:txBody>
          <a:bodyPr wrap="square" rtlCol="0" anchor="ctr"/>
          <a:lstStyle/>
          <a:p>
            <a:pPr indent="0" marL="0">
              <a:buNone/>
            </a:pPr>
            <a:r>
              <a:rPr lang="en-US" sz="2800" b="1" dirty="0">
                <a:solidFill>
                  <a:srgbClr val="111111"/>
                </a:solidFill>
                <a:latin typeface="Trebuchet MS" pitchFamily="34" charset="0"/>
                <a:ea typeface="Trebuchet MS" pitchFamily="34" charset="-122"/>
                <a:cs typeface="Trebuchet MS" pitchFamily="34" charset="-120"/>
              </a:rPr>
              <a:t>Ethical Considerations</a:t>
            </a:r>
            <a:endParaRPr lang="en-US" sz="2800" dirty="0"/>
          </a:p>
        </p:txBody>
      </p:sp>
      <p:sp>
        <p:nvSpPr>
          <p:cNvPr id="4" name="Text 1"/>
          <p:cNvSpPr/>
          <p:nvPr/>
        </p:nvSpPr>
        <p:spPr>
          <a:xfrm>
            <a:off x="731520" y="228600"/>
            <a:ext cx="10725912" cy="274320"/>
          </a:xfrm>
          <a:prstGeom prst="rect">
            <a:avLst/>
          </a:prstGeom>
          <a:noFill/>
          <a:ln/>
        </p:spPr>
        <p:txBody>
          <a:bodyPr wrap="square" rtlCol="0" anchor="ctr"/>
          <a:lstStyle/>
          <a:p>
            <a:pPr indent="0" marL="0">
              <a:buNone/>
            </a:pPr>
            <a:r>
              <a:rPr lang="en-US" sz="1100" b="1" dirty="0">
                <a:solidFill>
                  <a:srgbClr val="E28413"/>
                </a:solidFill>
                <a:latin typeface="Calibri" pitchFamily="34" charset="0"/>
                <a:ea typeface="Calibri" pitchFamily="34" charset="-122"/>
                <a:cs typeface="Calibri" pitchFamily="34" charset="-120"/>
              </a:rPr>
              <a:t>NAVIGATING NEW FRONTIERS</a:t>
            </a:r>
            <a:endParaRPr lang="en-US" sz="1100" dirty="0"/>
          </a:p>
        </p:txBody>
      </p:sp>
      <p:sp>
        <p:nvSpPr>
          <p:cNvPr id="5" name="Shape 2"/>
          <p:cNvSpPr/>
          <p:nvPr/>
        </p:nvSpPr>
        <p:spPr>
          <a:xfrm>
            <a:off x="731520" y="1188720"/>
            <a:ext cx="10725912" cy="9144"/>
          </a:xfrm>
          <a:prstGeom prst="line">
            <a:avLst/>
          </a:prstGeom>
          <a:noFill/>
          <a:ln w="12700">
            <a:solidFill>
              <a:srgbClr val="333333"/>
            </a:solidFill>
            <a:prstDash val="solid"/>
          </a:ln>
        </p:spPr>
      </p:sp>
      <p:sp>
        <p:nvSpPr>
          <p:cNvPr id="6" name="Shape 3"/>
          <p:cNvSpPr/>
          <p:nvPr/>
        </p:nvSpPr>
        <p:spPr>
          <a:xfrm>
            <a:off x="731520" y="1645920"/>
            <a:ext cx="4754880" cy="4389120"/>
          </a:xfrm>
          <a:prstGeom prst="rect">
            <a:avLst/>
          </a:prstGeom>
          <a:solidFill>
            <a:srgbClr val="EAEAEA"/>
          </a:solidFill>
          <a:ln w="19050">
            <a:solidFill>
              <a:srgbClr val="333333"/>
            </a:solidFill>
            <a:prstDash val="solid"/>
          </a:ln>
        </p:spPr>
      </p:sp>
      <p:sp>
        <p:nvSpPr>
          <p:cNvPr id="7" name="Text 4"/>
          <p:cNvSpPr/>
          <p:nvPr/>
        </p:nvSpPr>
        <p:spPr>
          <a:xfrm>
            <a:off x="914400" y="2011680"/>
            <a:ext cx="4389120" cy="3657600"/>
          </a:xfrm>
          <a:prstGeom prst="rect">
            <a:avLst/>
          </a:prstGeom>
          <a:noFill/>
          <a:ln/>
        </p:spPr>
        <p:txBody>
          <a:bodyPr wrap="square" rtlCol="0" anchor="ctr"/>
          <a:lstStyle/>
          <a:p>
            <a:pPr algn="ctr" indent="0" marL="0">
              <a:buNone/>
            </a:pPr>
            <a:r>
              <a:rPr lang="en-US" sz="1300" i="1" dirty="0">
                <a:solidFill>
                  <a:srgbClr val="EEEEEE"/>
                </a:solidFill>
                <a:latin typeface="Calibri" pitchFamily="34" charset="0"/>
                <a:ea typeface="Calibri" pitchFamily="34" charset="-122"/>
                <a:cs typeface="Calibri" pitchFamily="34" charset="-120"/>
              </a:rPr>
              <a:t>Visual Concept:</a:t>
            </a:r>
            <a:endParaRPr lang="en-US" sz="1300" dirty="0"/>
          </a:p>
          <a:p>
            <a:pPr algn="ctr" indent="0" marL="0">
              <a:buNone/>
            </a:pPr>
            <a:endParaRPr lang="en-US" sz="1300" dirty="0"/>
          </a:p>
          <a:p>
            <a:pPr algn="ctr" indent="0" marL="0">
              <a:buNone/>
            </a:pPr>
            <a:r>
              <a:rPr lang="en-US" sz="1300" i="1" dirty="0">
                <a:solidFill>
                  <a:srgbClr val="EEEEEE"/>
                </a:solidFill>
                <a:latin typeface="Calibri" pitchFamily="34" charset="0"/>
                <a:ea typeface="Calibri" pitchFamily="34" charset="-122"/>
                <a:cs typeface="Calibri" pitchFamily="34" charset="-120"/>
              </a:rPr>
              <a:t>"A balanced visual representing ethics. Could be scales of justice with quantum symbols, or a stylized globe with interconnected nodes, some glowing warning red, others calming blue, symbolizing balanced progress."</a:t>
            </a:r>
            <a:endParaRPr lang="en-US" sz="1300" dirty="0"/>
          </a:p>
        </p:txBody>
      </p:sp>
      <p:sp>
        <p:nvSpPr>
          <p:cNvPr id="8" name="Text 5"/>
          <p:cNvSpPr/>
          <p:nvPr/>
        </p:nvSpPr>
        <p:spPr>
          <a:xfrm>
            <a:off x="6035040" y="1645920"/>
            <a:ext cx="5394960" cy="4389120"/>
          </a:xfrm>
          <a:prstGeom prst="rect">
            <a:avLst/>
          </a:prstGeom>
          <a:noFill/>
          <a:ln/>
        </p:spPr>
        <p:txBody>
          <a:bodyPr wrap="square" rtlCol="0" anchor="t"/>
          <a:lstStyle/>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Data privacy implications.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Algorithmic bias amplification.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Job displacement concerns.</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Security risks (e.g., breaking encryption).</a:t>
            </a:r>
            <a:endParaRPr lang="en-US" sz="1500" dirty="0"/>
          </a:p>
          <a:p>
            <a:pPr marL="342900" indent="-342900">
              <a:lnSpc>
                <a:spcPts val="2400"/>
              </a:lnSpc>
              <a:buSzPct val="100000"/>
              <a:buChar char="•"/>
            </a:pPr>
            <a:r>
              <a:rPr lang="en-US" sz="1500" dirty="0">
                <a:solidFill>
                  <a:srgbClr val="EEEEEE"/>
                </a:solidFill>
                <a:latin typeface="Calibri" pitchFamily="34" charset="0"/>
                <a:ea typeface="Calibri" pitchFamily="34" charset="-122"/>
                <a:cs typeface="Calibri" pitchFamily="34" charset="-120"/>
              </a:rPr>
              <a:t>Need for responsible development and governance.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3" name="Shape 0"/>
          <p:cNvSpPr/>
          <p:nvPr/>
        </p:nvSpPr>
        <p:spPr>
          <a:xfrm>
            <a:off x="457200" y="3200400"/>
            <a:ext cx="11274552" cy="45720"/>
          </a:xfrm>
          <a:prstGeom prst="rect">
            <a:avLst/>
          </a:prstGeom>
          <a:solidFill>
            <a:srgbClr val="E28413"/>
          </a:solidFill>
          <a:ln/>
        </p:spPr>
      </p:sp>
      <p:sp>
        <p:nvSpPr>
          <p:cNvPr id="4" name="Text 1"/>
          <p:cNvSpPr/>
          <p:nvPr/>
        </p:nvSpPr>
        <p:spPr>
          <a:xfrm>
            <a:off x="914400" y="1828800"/>
            <a:ext cx="10360152" cy="1097280"/>
          </a:xfrm>
          <a:prstGeom prst="rect">
            <a:avLst/>
          </a:prstGeom>
          <a:noFill/>
          <a:ln/>
        </p:spPr>
        <p:txBody>
          <a:bodyPr wrap="square"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Conclusion</a:t>
            </a:r>
            <a:endParaRPr lang="en-US" sz="4000" dirty="0"/>
          </a:p>
        </p:txBody>
      </p:sp>
      <p:sp>
        <p:nvSpPr>
          <p:cNvPr id="5" name="Text 2"/>
          <p:cNvSpPr/>
          <p:nvPr/>
        </p:nvSpPr>
        <p:spPr>
          <a:xfrm>
            <a:off x="1828800" y="3474720"/>
            <a:ext cx="8531352" cy="2286000"/>
          </a:xfrm>
          <a:prstGeom prst="rect">
            <a:avLst/>
          </a:prstGeom>
          <a:noFill/>
          <a:ln/>
        </p:spPr>
        <p:txBody>
          <a:bodyPr wrap="square" rtlCol="0" anchor="ctr"/>
          <a:lstStyle/>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Quantum AI represents a major technological leap.</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It promises to solve problems beyond classical reach.</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Key applications emerging across industries.</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Challenges exist but are being actively addressed.</a:t>
            </a:r>
            <a:endParaRPr lang="en-US" sz="1800" dirty="0"/>
          </a:p>
          <a:p>
            <a:pPr algn="ctr" marL="342900" indent="-342900">
              <a:buSzPct val="100000"/>
              <a:buChar char="•"/>
            </a:pPr>
            <a:r>
              <a:rPr lang="en-US" sz="1800" dirty="0">
                <a:solidFill>
                  <a:srgbClr val="FFFFFF"/>
                </a:solidFill>
                <a:latin typeface="Calibri" pitchFamily="34" charset="0"/>
                <a:ea typeface="Calibri" pitchFamily="34" charset="-122"/>
                <a:cs typeface="Calibri" pitchFamily="34" charset="-120"/>
              </a:rPr>
              <a:t>The future is increasingly quantum-integrated.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2026-06-04T10:23:40Z</dcterms:created>
  <dcterms:modified xsi:type="dcterms:W3CDTF">2026-06-04T10:23:40Z</dcterms:modified>
</cp:coreProperties>
</file>